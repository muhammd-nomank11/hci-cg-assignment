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50" d="100"/>
          <a:sy n="50" d="100"/>
        </p:scale>
        <p:origin x="1188" y="2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ADCC35-1F37-44C5-BD76-C15A8D7A88C2}"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1E7726-F5EF-4C0A-978B-AC8F904F332E}" type="slidenum">
              <a:rPr lang="en-US" smtClean="0"/>
              <a:t>‹#›</a:t>
            </a:fld>
            <a:endParaRPr lang="en-US"/>
          </a:p>
        </p:txBody>
      </p:sp>
    </p:spTree>
    <p:extLst>
      <p:ext uri="{BB962C8B-B14F-4D97-AF65-F5344CB8AC3E}">
        <p14:creationId xmlns:p14="http://schemas.microsoft.com/office/powerpoint/2010/main" val="330284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1E7726-F5EF-4C0A-978B-AC8F904F332E}" type="slidenum">
              <a:rPr lang="en-US" smtClean="0"/>
              <a:t>8</a:t>
            </a:fld>
            <a:endParaRPr lang="en-US"/>
          </a:p>
        </p:txBody>
      </p:sp>
    </p:spTree>
    <p:extLst>
      <p:ext uri="{BB962C8B-B14F-4D97-AF65-F5344CB8AC3E}">
        <p14:creationId xmlns:p14="http://schemas.microsoft.com/office/powerpoint/2010/main" val="1940610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1.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19.png"/><Relationship Id="rId5" Type="http://schemas.openxmlformats.org/officeDocument/2006/relationships/image" Target="../media/image14.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3.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4.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0.png"/><Relationship Id="rId3" Type="http://schemas.openxmlformats.org/officeDocument/2006/relationships/image" Target="../media/image24.png"/><Relationship Id="rId7" Type="http://schemas.openxmlformats.org/officeDocument/2006/relationships/image" Target="../media/image25.png"/><Relationship Id="rId12" Type="http://schemas.openxmlformats.org/officeDocument/2006/relationships/image" Target="../media/image29.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28.png"/><Relationship Id="rId5" Type="http://schemas.openxmlformats.org/officeDocument/2006/relationships/image" Target="../media/image13.png"/><Relationship Id="rId10" Type="http://schemas.openxmlformats.org/officeDocument/2006/relationships/image" Target="../media/image4.png"/><Relationship Id="rId4" Type="http://schemas.openxmlformats.org/officeDocument/2006/relationships/image" Target="../media/image12.png"/><Relationship Id="rId9" Type="http://schemas.openxmlformats.org/officeDocument/2006/relationships/image" Target="../media/image27.png"/><Relationship Id="rId14" Type="http://schemas.openxmlformats.org/officeDocument/2006/relationships/image" Target="../media/image31.png"/></Relationships>
</file>

<file path=ppt/slides/_rels/slide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8.png"/><Relationship Id="rId4" Type="http://schemas.openxmlformats.org/officeDocument/2006/relationships/image" Target="../media/image33.png"/><Relationship Id="rId9" Type="http://schemas.openxmlformats.org/officeDocument/2006/relationships/image" Target="../media/image37.png"/></Relationships>
</file>

<file path=ppt/slides/_rels/slide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png"/><Relationship Id="rId7"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424"/>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10886"/>
            <a:ext cx="12192000" cy="6858000"/>
          </a:xfrm>
          <a:prstGeom prst="rect">
            <a:avLst/>
          </a:prstGeom>
        </p:spPr>
      </p:pic>
      <p:pic>
        <p:nvPicPr>
          <p:cNvPr id="3" name="Picture 2" descr="image.png"/>
          <p:cNvPicPr>
            <a:picLocks noChangeAspect="1"/>
          </p:cNvPicPr>
          <p:nvPr/>
        </p:nvPicPr>
        <p:blipFill>
          <a:blip r:embed="rId3"/>
          <a:stretch>
            <a:fillRect/>
          </a:stretch>
        </p:blipFill>
        <p:spPr>
          <a:xfrm>
            <a:off x="9982200" y="361950"/>
            <a:ext cx="1781175" cy="247650"/>
          </a:xfrm>
          <a:prstGeom prst="rect">
            <a:avLst/>
          </a:prstGeom>
        </p:spPr>
      </p:pic>
      <p:pic>
        <p:nvPicPr>
          <p:cNvPr id="4" name="Picture 3" descr="image.png"/>
          <p:cNvPicPr>
            <a:picLocks noChangeAspect="1"/>
          </p:cNvPicPr>
          <p:nvPr/>
        </p:nvPicPr>
        <p:blipFill>
          <a:blip r:embed="rId4"/>
          <a:stretch>
            <a:fillRect/>
          </a:stretch>
        </p:blipFill>
        <p:spPr>
          <a:xfrm>
            <a:off x="7091808" y="2243137"/>
            <a:ext cx="4671566" cy="2743200"/>
          </a:xfrm>
          <a:prstGeom prst="rect">
            <a:avLst/>
          </a:prstGeom>
        </p:spPr>
      </p:pic>
      <p:pic>
        <p:nvPicPr>
          <p:cNvPr id="5" name="Picture 4" descr="image.png"/>
          <p:cNvPicPr>
            <a:picLocks noChangeAspect="1"/>
          </p:cNvPicPr>
          <p:nvPr/>
        </p:nvPicPr>
        <p:blipFill>
          <a:blip r:embed="rId5"/>
          <a:stretch>
            <a:fillRect/>
          </a:stretch>
        </p:blipFill>
        <p:spPr>
          <a:xfrm>
            <a:off x="428625" y="6353175"/>
            <a:ext cx="11334750" cy="247650"/>
          </a:xfrm>
          <a:prstGeom prst="rect">
            <a:avLst/>
          </a:prstGeom>
        </p:spPr>
      </p:pic>
      <p:sp>
        <p:nvSpPr>
          <p:cNvPr id="6" name="TextBox 5"/>
          <p:cNvSpPr txBox="1"/>
          <p:nvPr/>
        </p:nvSpPr>
        <p:spPr>
          <a:xfrm>
            <a:off x="428625" y="333375"/>
            <a:ext cx="4025354" cy="304800"/>
          </a:xfrm>
          <a:prstGeom prst="rect">
            <a:avLst/>
          </a:prstGeom>
          <a:noFill/>
        </p:spPr>
        <p:txBody>
          <a:bodyPr wrap="square" lIns="0" tIns="0" rIns="0" bIns="0" anchor="ctr">
            <a:spAutoFit/>
          </a:bodyPr>
          <a:lstStyle/>
          <a:p>
            <a:pPr algn="l"/>
            <a:r>
              <a:rPr sz="1875" b="1" i="0" u="none">
                <a:solidFill>
                  <a:srgbClr val="FFFFFF"/>
                </a:solidFill>
                <a:latin typeface="Plus Jakarta Sans"/>
              </a:rPr>
              <a:t>Interactive 3D Tool Analysis</a:t>
            </a:r>
          </a:p>
        </p:txBody>
      </p:sp>
      <p:sp>
        <p:nvSpPr>
          <p:cNvPr id="7" name="TextBox 6"/>
          <p:cNvSpPr txBox="1"/>
          <p:nvPr/>
        </p:nvSpPr>
        <p:spPr>
          <a:xfrm>
            <a:off x="428625" y="6457950"/>
            <a:ext cx="3914775" cy="142875"/>
          </a:xfrm>
          <a:prstGeom prst="rect">
            <a:avLst/>
          </a:prstGeom>
          <a:noFill/>
        </p:spPr>
        <p:txBody>
          <a:bodyPr wrap="square" lIns="0" tIns="0" rIns="0" bIns="0" anchor="t">
            <a:spAutoFit/>
          </a:bodyPr>
          <a:lstStyle/>
          <a:p>
            <a:pPr algn="l"/>
            <a:r>
              <a:rPr sz="900" b="0" i="0" u="none" dirty="0">
                <a:solidFill>
                  <a:srgbClr val="64748B"/>
                </a:solidFill>
                <a:latin typeface="Plus Jakarta Sans"/>
              </a:rPr>
              <a:t>Assignment: Visual Annotation &amp; Analysis of an Interactive 3D Digital Tool</a:t>
            </a:r>
          </a:p>
        </p:txBody>
      </p:sp>
      <p:sp>
        <p:nvSpPr>
          <p:cNvPr id="8" name="TextBox 7"/>
          <p:cNvSpPr txBox="1"/>
          <p:nvPr/>
        </p:nvSpPr>
        <p:spPr>
          <a:xfrm>
            <a:off x="11191875" y="6457950"/>
            <a:ext cx="571500" cy="142875"/>
          </a:xfrm>
          <a:prstGeom prst="rect">
            <a:avLst/>
          </a:prstGeom>
          <a:noFill/>
        </p:spPr>
        <p:txBody>
          <a:bodyPr wrap="square" lIns="0" tIns="0" rIns="0" bIns="0" anchor="t">
            <a:spAutoFit/>
          </a:bodyPr>
          <a:lstStyle/>
          <a:p>
            <a:pPr algn="l"/>
            <a:r>
              <a:rPr sz="900" b="0" i="0" u="none">
                <a:solidFill>
                  <a:srgbClr val="64748B"/>
                </a:solidFill>
                <a:latin typeface="Plus Jakarta Sans"/>
              </a:rPr>
              <a:t>Slide 1 of 8</a:t>
            </a:r>
          </a:p>
        </p:txBody>
      </p:sp>
      <p:pic>
        <p:nvPicPr>
          <p:cNvPr id="9" name="Picture 8" descr="image.png"/>
          <p:cNvPicPr>
            <a:picLocks noChangeAspect="1"/>
          </p:cNvPicPr>
          <p:nvPr/>
        </p:nvPicPr>
        <p:blipFill>
          <a:blip r:embed="rId6"/>
          <a:stretch>
            <a:fillRect/>
          </a:stretch>
        </p:blipFill>
        <p:spPr>
          <a:xfrm>
            <a:off x="3755391" y="376237"/>
            <a:ext cx="920204" cy="219075"/>
          </a:xfrm>
          <a:prstGeom prst="rect">
            <a:avLst/>
          </a:prstGeom>
        </p:spPr>
      </p:pic>
      <p:sp>
        <p:nvSpPr>
          <p:cNvPr id="10" name="TextBox 9"/>
          <p:cNvSpPr txBox="1"/>
          <p:nvPr/>
        </p:nvSpPr>
        <p:spPr>
          <a:xfrm>
            <a:off x="428625" y="2313235"/>
            <a:ext cx="6636298" cy="943867"/>
          </a:xfrm>
          <a:prstGeom prst="rect">
            <a:avLst/>
          </a:prstGeom>
          <a:noFill/>
        </p:spPr>
        <p:txBody>
          <a:bodyPr wrap="square" lIns="0" tIns="0" rIns="0" bIns="0" anchor="t">
            <a:spAutoFit/>
          </a:bodyPr>
          <a:lstStyle/>
          <a:p>
            <a:pPr algn="l">
              <a:lnSpc>
                <a:spcPts val="3717"/>
              </a:lnSpc>
            </a:pPr>
            <a:r>
              <a:rPr sz="3150" b="0" i="0" u="none">
                <a:solidFill>
                  <a:srgbClr val="FFFFFF"/>
                </a:solidFill>
                <a:latin typeface="Plus Jakarta Sans ExtraBold"/>
              </a:rPr>
              <a:t>HCI vs. Computer Graphics Visual Evaluation</a:t>
            </a:r>
          </a:p>
        </p:txBody>
      </p:sp>
      <p:sp>
        <p:nvSpPr>
          <p:cNvPr id="11" name="TextBox 10"/>
          <p:cNvSpPr txBox="1"/>
          <p:nvPr/>
        </p:nvSpPr>
        <p:spPr>
          <a:xfrm>
            <a:off x="428625" y="3390453"/>
            <a:ext cx="6320283" cy="944760"/>
          </a:xfrm>
          <a:prstGeom prst="rect">
            <a:avLst/>
          </a:prstGeom>
          <a:noFill/>
        </p:spPr>
        <p:txBody>
          <a:bodyPr wrap="square" lIns="0" tIns="0" rIns="0" bIns="0" anchor="t">
            <a:spAutoFit/>
          </a:bodyPr>
          <a:lstStyle/>
          <a:p>
            <a:pPr algn="l">
              <a:lnSpc>
                <a:spcPts val="1860"/>
              </a:lnSpc>
            </a:pPr>
            <a:r>
              <a:rPr sz="1162" b="0" i="0" u="none">
                <a:solidFill>
                  <a:srgbClr val="94A3B8"/>
                </a:solidFill>
                <a:latin typeface="Plus Jakarta Sans"/>
              </a:rPr>
              <a:t>An academic comparative case study demonstrating the fundamental distinctions between Human-Computer Interaction (interaction affordances, input design, visual feedback) and 3D Computer Graphics (mesh geometry, texture mapping, lighting cues) using Google Earth 3D.</a:t>
            </a:r>
          </a:p>
        </p:txBody>
      </p:sp>
      <p:sp>
        <p:nvSpPr>
          <p:cNvPr id="12" name="TextBox 11"/>
          <p:cNvSpPr txBox="1"/>
          <p:nvPr/>
        </p:nvSpPr>
        <p:spPr>
          <a:xfrm>
            <a:off x="7387083" y="2500312"/>
            <a:ext cx="4081016" cy="381000"/>
          </a:xfrm>
          <a:prstGeom prst="rect">
            <a:avLst/>
          </a:prstGeom>
          <a:noFill/>
        </p:spPr>
        <p:txBody>
          <a:bodyPr wrap="square" lIns="0" tIns="0" rIns="0" bIns="0" anchor="t">
            <a:spAutoFit/>
          </a:bodyPr>
          <a:lstStyle/>
          <a:p>
            <a:pPr algn="l"/>
            <a:r>
              <a:rPr sz="1200" b="0" i="0" u="none">
                <a:solidFill>
                  <a:srgbClr val="38BDF8"/>
                </a:solidFill>
                <a:latin typeface="Plus Jakarta Sans SemiBold"/>
              </a:rPr>
              <a:t>Student Name</a:t>
            </a:r>
            <a:r>
              <a:rPr sz="1200" b="0" i="0" u="none">
                <a:solidFill>
                  <a:srgbClr val="F1F5F9"/>
                </a:solidFill>
                <a:latin typeface="Plus Jakarta Sans"/>
              </a:rPr>
              <a:t> </a:t>
            </a:r>
            <a:r>
              <a:rPr sz="1200" b="1" i="0" u="none">
                <a:solidFill>
                  <a:srgbClr val="FFFFFF"/>
                </a:solidFill>
                <a:latin typeface="Plus Jakarta Sans"/>
              </a:rPr>
              <a:t>MUHAMMAD NOMAN</a:t>
            </a:r>
          </a:p>
        </p:txBody>
      </p:sp>
      <p:sp>
        <p:nvSpPr>
          <p:cNvPr id="13" name="Rectangle 12"/>
          <p:cNvSpPr/>
          <p:nvPr/>
        </p:nvSpPr>
        <p:spPr>
          <a:xfrm>
            <a:off x="7387083" y="2967037"/>
            <a:ext cx="4081016"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87083" y="3119437"/>
            <a:ext cx="4081016" cy="381000"/>
          </a:xfrm>
          <a:prstGeom prst="rect">
            <a:avLst/>
          </a:prstGeom>
          <a:noFill/>
        </p:spPr>
        <p:txBody>
          <a:bodyPr wrap="square" lIns="0" tIns="0" rIns="0" bIns="0" anchor="t">
            <a:spAutoFit/>
          </a:bodyPr>
          <a:lstStyle/>
          <a:p>
            <a:pPr algn="l"/>
            <a:r>
              <a:rPr sz="1200" b="0" i="0" u="none">
                <a:solidFill>
                  <a:srgbClr val="38BDF8"/>
                </a:solidFill>
                <a:latin typeface="Plus Jakarta Sans SemiBold"/>
              </a:rPr>
              <a:t>Roll Number</a:t>
            </a:r>
            <a:r>
              <a:rPr sz="1200" b="0" i="0" u="none">
                <a:solidFill>
                  <a:srgbClr val="F1F5F9"/>
                </a:solidFill>
                <a:latin typeface="Plus Jakarta Sans"/>
              </a:rPr>
              <a:t> </a:t>
            </a:r>
            <a:r>
              <a:rPr sz="1200" b="1" i="0" u="none">
                <a:solidFill>
                  <a:srgbClr val="FFFFFF"/>
                </a:solidFill>
                <a:latin typeface="Plus Jakarta Sans"/>
              </a:rPr>
              <a:t>2K24/CSE/105</a:t>
            </a:r>
          </a:p>
        </p:txBody>
      </p:sp>
      <p:sp>
        <p:nvSpPr>
          <p:cNvPr id="15" name="Rectangle 14"/>
          <p:cNvSpPr/>
          <p:nvPr/>
        </p:nvSpPr>
        <p:spPr>
          <a:xfrm>
            <a:off x="7387083" y="3586162"/>
            <a:ext cx="4081016"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87083" y="3738562"/>
            <a:ext cx="4081016" cy="381000"/>
          </a:xfrm>
          <a:prstGeom prst="rect">
            <a:avLst/>
          </a:prstGeom>
          <a:noFill/>
        </p:spPr>
        <p:txBody>
          <a:bodyPr wrap="square" lIns="0" tIns="0" rIns="0" bIns="0" anchor="t">
            <a:spAutoFit/>
          </a:bodyPr>
          <a:lstStyle/>
          <a:p>
            <a:pPr algn="l"/>
            <a:r>
              <a:rPr sz="1200" b="0" i="0" u="none">
                <a:solidFill>
                  <a:srgbClr val="38BDF8"/>
                </a:solidFill>
                <a:latin typeface="Plus Jakarta Sans SemiBold"/>
              </a:rPr>
              <a:t>Subject</a:t>
            </a:r>
            <a:r>
              <a:rPr sz="1200" b="0" i="0" u="none">
                <a:solidFill>
                  <a:srgbClr val="F1F5F9"/>
                </a:solidFill>
                <a:latin typeface="Plus Jakarta Sans"/>
              </a:rPr>
              <a:t> </a:t>
            </a:r>
            <a:r>
              <a:rPr sz="1200" b="1" i="0" u="none">
                <a:solidFill>
                  <a:srgbClr val="FFFFFF"/>
                </a:solidFill>
                <a:latin typeface="Plus Jakarta Sans"/>
              </a:rPr>
              <a:t>HCI &amp; COMPUTER GRAPHICS</a:t>
            </a:r>
          </a:p>
        </p:txBody>
      </p:sp>
      <p:sp>
        <p:nvSpPr>
          <p:cNvPr id="17" name="Rectangle 16"/>
          <p:cNvSpPr/>
          <p:nvPr/>
        </p:nvSpPr>
        <p:spPr>
          <a:xfrm>
            <a:off x="7387083" y="4205287"/>
            <a:ext cx="4081016"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87083" y="4357687"/>
            <a:ext cx="4081016" cy="371475"/>
          </a:xfrm>
          <a:prstGeom prst="rect">
            <a:avLst/>
          </a:prstGeom>
          <a:noFill/>
        </p:spPr>
        <p:txBody>
          <a:bodyPr wrap="square" lIns="0" tIns="0" rIns="0" bIns="0" anchor="t">
            <a:spAutoFit/>
          </a:bodyPr>
          <a:lstStyle/>
          <a:p>
            <a:pPr algn="l"/>
            <a:r>
              <a:rPr sz="1200" b="0" i="0" u="none">
                <a:solidFill>
                  <a:srgbClr val="38BDF8"/>
                </a:solidFill>
                <a:latin typeface="Plus Jakarta Sans SemiBold"/>
              </a:rPr>
              <a:t>Submitted To</a:t>
            </a:r>
            <a:r>
              <a:rPr sz="1200" b="0" i="0" u="none">
                <a:solidFill>
                  <a:srgbClr val="F1F5F9"/>
                </a:solidFill>
                <a:latin typeface="Plus Jakarta Sans"/>
              </a:rPr>
              <a:t> </a:t>
            </a:r>
            <a:r>
              <a:rPr sz="1200" b="1" i="0" u="none">
                <a:solidFill>
                  <a:srgbClr val="FFFFFF"/>
                </a:solidFill>
                <a:latin typeface="Plus Jakarta Sans"/>
              </a:rPr>
              <a:t>MR. RAJESH KUMAR</a:t>
            </a:r>
          </a:p>
        </p:txBody>
      </p:sp>
      <p:pic>
        <p:nvPicPr>
          <p:cNvPr id="19" name="Picture 18" descr="image.png"/>
          <p:cNvPicPr>
            <a:picLocks noChangeAspect="1"/>
          </p:cNvPicPr>
          <p:nvPr/>
        </p:nvPicPr>
        <p:blipFill>
          <a:blip r:embed="rId7"/>
          <a:stretch>
            <a:fillRect/>
          </a:stretch>
        </p:blipFill>
        <p:spPr>
          <a:xfrm>
            <a:off x="609600" y="4666208"/>
            <a:ext cx="133350" cy="128587"/>
          </a:xfrm>
          <a:prstGeom prst="rect">
            <a:avLst/>
          </a:prstGeom>
        </p:spPr>
      </p:pic>
      <p:sp>
        <p:nvSpPr>
          <p:cNvPr id="20" name="TextBox 19"/>
          <p:cNvSpPr txBox="1"/>
          <p:nvPr/>
        </p:nvSpPr>
        <p:spPr>
          <a:xfrm>
            <a:off x="838200" y="4649539"/>
            <a:ext cx="3762375" cy="161925"/>
          </a:xfrm>
          <a:prstGeom prst="rect">
            <a:avLst/>
          </a:prstGeom>
          <a:noFill/>
        </p:spPr>
        <p:txBody>
          <a:bodyPr wrap="square" lIns="0" tIns="0" rIns="0" bIns="0" anchor="t">
            <a:spAutoFit/>
          </a:bodyPr>
          <a:lstStyle/>
          <a:p>
            <a:pPr algn="l"/>
            <a:r>
              <a:rPr sz="1012" b="0" i="0" u="none" dirty="0">
                <a:solidFill>
                  <a:srgbClr val="E2E8F0"/>
                </a:solidFill>
                <a:latin typeface="Plus Jakarta Sans"/>
              </a:rPr>
              <a:t>Target Interactive 3D Platform: </a:t>
            </a:r>
            <a:r>
              <a:rPr sz="1012" b="1" i="0" u="none" dirty="0">
                <a:solidFill>
                  <a:srgbClr val="E2E8F0"/>
                </a:solidFill>
                <a:latin typeface="Plus Jakarta Sans"/>
              </a:rPr>
              <a:t>Google Earth Web (3D Canvas)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1424"/>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rotWithShape="1">
          <a:blip r:embed="rId3"/>
          <a:srcRect l="52589" t="13187" b="16483"/>
          <a:stretch/>
        </p:blipFill>
        <p:spPr>
          <a:xfrm>
            <a:off x="10729232" y="402771"/>
            <a:ext cx="1034143" cy="174171"/>
          </a:xfrm>
          <a:prstGeom prst="rect">
            <a:avLst/>
          </a:prstGeom>
        </p:spPr>
      </p:pic>
      <p:pic>
        <p:nvPicPr>
          <p:cNvPr id="4" name="Picture 3" descr="image.png"/>
          <p:cNvPicPr>
            <a:picLocks noChangeAspect="1"/>
          </p:cNvPicPr>
          <p:nvPr/>
        </p:nvPicPr>
        <p:blipFill>
          <a:blip r:embed="rId4"/>
          <a:stretch>
            <a:fillRect/>
          </a:stretch>
        </p:blipFill>
        <p:spPr>
          <a:xfrm>
            <a:off x="428625" y="1114425"/>
            <a:ext cx="11334750" cy="5000625"/>
          </a:xfrm>
          <a:prstGeom prst="rect">
            <a:avLst/>
          </a:prstGeom>
        </p:spPr>
      </p:pic>
      <p:pic>
        <p:nvPicPr>
          <p:cNvPr id="5" name="Picture 4" descr="image.png"/>
          <p:cNvPicPr>
            <a:picLocks noChangeAspect="1"/>
          </p:cNvPicPr>
          <p:nvPr/>
        </p:nvPicPr>
        <p:blipFill>
          <a:blip r:embed="rId5"/>
          <a:stretch>
            <a:fillRect/>
          </a:stretch>
        </p:blipFill>
        <p:spPr>
          <a:xfrm>
            <a:off x="428625" y="6353175"/>
            <a:ext cx="11334750" cy="247650"/>
          </a:xfrm>
          <a:prstGeom prst="rect">
            <a:avLst/>
          </a:prstGeom>
        </p:spPr>
      </p:pic>
      <p:sp>
        <p:nvSpPr>
          <p:cNvPr id="6" name="TextBox 5"/>
          <p:cNvSpPr txBox="1"/>
          <p:nvPr/>
        </p:nvSpPr>
        <p:spPr>
          <a:xfrm>
            <a:off x="428625" y="333375"/>
            <a:ext cx="6680150" cy="304800"/>
          </a:xfrm>
          <a:prstGeom prst="rect">
            <a:avLst/>
          </a:prstGeom>
          <a:noFill/>
        </p:spPr>
        <p:txBody>
          <a:bodyPr wrap="square" lIns="0" tIns="0" rIns="0" bIns="0" anchor="ctr">
            <a:spAutoFit/>
          </a:bodyPr>
          <a:lstStyle/>
          <a:p>
            <a:pPr algn="l"/>
            <a:r>
              <a:rPr sz="1875" b="1" i="0" u="none" dirty="0">
                <a:solidFill>
                  <a:srgbClr val="FFFFFF"/>
                </a:solidFill>
                <a:latin typeface="Plus Jakarta Sans"/>
              </a:rPr>
              <a:t>Slide 1: HCI Focus — Manhattan &amp; Hudson River</a:t>
            </a:r>
          </a:p>
        </p:txBody>
      </p:sp>
      <p:sp>
        <p:nvSpPr>
          <p:cNvPr id="7" name="TextBox 6"/>
          <p:cNvSpPr txBox="1"/>
          <p:nvPr/>
        </p:nvSpPr>
        <p:spPr>
          <a:xfrm>
            <a:off x="428625" y="6457950"/>
            <a:ext cx="6962775" cy="142875"/>
          </a:xfrm>
          <a:prstGeom prst="rect">
            <a:avLst/>
          </a:prstGeom>
          <a:noFill/>
        </p:spPr>
        <p:txBody>
          <a:bodyPr wrap="square" lIns="0" tIns="0" rIns="0" bIns="0" anchor="t">
            <a:spAutoFit/>
          </a:bodyPr>
          <a:lstStyle/>
          <a:p>
            <a:pPr algn="l"/>
            <a:r>
              <a:rPr sz="900" b="0" i="0" u="none">
                <a:solidFill>
                  <a:srgbClr val="64748B"/>
                </a:solidFill>
                <a:latin typeface="Plus Jakarta Sans"/>
              </a:rPr>
              <a:t>Annotations: (1) Primary Search Bar &amp; Action Ribbon | (2) Floating Landmark Pins / POI Badges | (3) HUD Navigation Control Cluster</a:t>
            </a:r>
          </a:p>
        </p:txBody>
      </p:sp>
      <p:sp>
        <p:nvSpPr>
          <p:cNvPr id="8" name="TextBox 7"/>
          <p:cNvSpPr txBox="1"/>
          <p:nvPr/>
        </p:nvSpPr>
        <p:spPr>
          <a:xfrm>
            <a:off x="11163300" y="6457950"/>
            <a:ext cx="600075" cy="142875"/>
          </a:xfrm>
          <a:prstGeom prst="rect">
            <a:avLst/>
          </a:prstGeom>
          <a:noFill/>
        </p:spPr>
        <p:txBody>
          <a:bodyPr wrap="square" lIns="0" tIns="0" rIns="0" bIns="0" anchor="t">
            <a:spAutoFit/>
          </a:bodyPr>
          <a:lstStyle/>
          <a:p>
            <a:pPr algn="l"/>
            <a:r>
              <a:rPr sz="900" b="0" i="0" u="none">
                <a:solidFill>
                  <a:srgbClr val="64748B"/>
                </a:solidFill>
                <a:latin typeface="Plus Jakarta Sans"/>
              </a:rPr>
              <a:t>Slide 2 of 8</a:t>
            </a:r>
          </a:p>
        </p:txBody>
      </p:sp>
      <p:pic>
        <p:nvPicPr>
          <p:cNvPr id="9" name="Picture 8" descr="image.png"/>
          <p:cNvPicPr>
            <a:picLocks noChangeAspect="1"/>
          </p:cNvPicPr>
          <p:nvPr/>
        </p:nvPicPr>
        <p:blipFill>
          <a:blip r:embed="rId6"/>
          <a:stretch>
            <a:fillRect/>
          </a:stretch>
        </p:blipFill>
        <p:spPr>
          <a:xfrm>
            <a:off x="6190507" y="402771"/>
            <a:ext cx="1436637" cy="219075"/>
          </a:xfrm>
          <a:prstGeom prst="rect">
            <a:avLst/>
          </a:prstGeom>
        </p:spPr>
      </p:pic>
      <p:pic>
        <p:nvPicPr>
          <p:cNvPr id="10" name="Picture 9" descr="image.png"/>
          <p:cNvPicPr>
            <a:picLocks noChangeAspect="1"/>
          </p:cNvPicPr>
          <p:nvPr/>
        </p:nvPicPr>
        <p:blipFill>
          <a:blip r:embed="rId7"/>
          <a:stretch>
            <a:fillRect/>
          </a:stretch>
        </p:blipFill>
        <p:spPr>
          <a:xfrm>
            <a:off x="438150" y="1123950"/>
            <a:ext cx="11315700" cy="4981575"/>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1424"/>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10886"/>
            <a:ext cx="12192000" cy="6858000"/>
          </a:xfrm>
          <a:prstGeom prst="rect">
            <a:avLst/>
          </a:prstGeom>
        </p:spPr>
      </p:pic>
      <p:pic>
        <p:nvPicPr>
          <p:cNvPr id="4" name="Picture 3" descr="image.png"/>
          <p:cNvPicPr>
            <a:picLocks noChangeAspect="1"/>
          </p:cNvPicPr>
          <p:nvPr/>
        </p:nvPicPr>
        <p:blipFill>
          <a:blip r:embed="rId3"/>
          <a:stretch>
            <a:fillRect/>
          </a:stretch>
        </p:blipFill>
        <p:spPr>
          <a:xfrm>
            <a:off x="428625" y="2458789"/>
            <a:ext cx="3663850" cy="2311747"/>
          </a:xfrm>
          <a:prstGeom prst="rect">
            <a:avLst/>
          </a:prstGeom>
        </p:spPr>
      </p:pic>
      <p:pic>
        <p:nvPicPr>
          <p:cNvPr id="5" name="Picture 4" descr="image.png"/>
          <p:cNvPicPr>
            <a:picLocks noChangeAspect="1"/>
          </p:cNvPicPr>
          <p:nvPr/>
        </p:nvPicPr>
        <p:blipFill>
          <a:blip r:embed="rId4"/>
          <a:stretch>
            <a:fillRect/>
          </a:stretch>
        </p:blipFill>
        <p:spPr>
          <a:xfrm>
            <a:off x="4263925" y="2458789"/>
            <a:ext cx="3663999" cy="2311747"/>
          </a:xfrm>
          <a:prstGeom prst="rect">
            <a:avLst/>
          </a:prstGeom>
        </p:spPr>
      </p:pic>
      <p:pic>
        <p:nvPicPr>
          <p:cNvPr id="6" name="Picture 5" descr="image.png"/>
          <p:cNvPicPr>
            <a:picLocks noChangeAspect="1"/>
          </p:cNvPicPr>
          <p:nvPr/>
        </p:nvPicPr>
        <p:blipFill>
          <a:blip r:embed="rId5"/>
          <a:stretch>
            <a:fillRect/>
          </a:stretch>
        </p:blipFill>
        <p:spPr>
          <a:xfrm>
            <a:off x="8099375" y="2458789"/>
            <a:ext cx="3663850" cy="2311747"/>
          </a:xfrm>
          <a:prstGeom prst="rect">
            <a:avLst/>
          </a:prstGeom>
        </p:spPr>
      </p:pic>
      <p:pic>
        <p:nvPicPr>
          <p:cNvPr id="7" name="Picture 6" descr="image.png"/>
          <p:cNvPicPr>
            <a:picLocks noChangeAspect="1"/>
          </p:cNvPicPr>
          <p:nvPr/>
        </p:nvPicPr>
        <p:blipFill>
          <a:blip r:embed="rId6"/>
          <a:stretch>
            <a:fillRect/>
          </a:stretch>
        </p:blipFill>
        <p:spPr>
          <a:xfrm>
            <a:off x="647700" y="2677864"/>
            <a:ext cx="1704975" cy="209550"/>
          </a:xfrm>
          <a:prstGeom prst="rect">
            <a:avLst/>
          </a:prstGeom>
        </p:spPr>
      </p:pic>
      <p:pic>
        <p:nvPicPr>
          <p:cNvPr id="8" name="Picture 7" descr="image.png"/>
          <p:cNvPicPr>
            <a:picLocks noChangeAspect="1"/>
          </p:cNvPicPr>
          <p:nvPr/>
        </p:nvPicPr>
        <p:blipFill>
          <a:blip r:embed="rId7"/>
          <a:stretch>
            <a:fillRect/>
          </a:stretch>
        </p:blipFill>
        <p:spPr>
          <a:xfrm>
            <a:off x="4483000" y="2677864"/>
            <a:ext cx="2171700" cy="209550"/>
          </a:xfrm>
          <a:prstGeom prst="rect">
            <a:avLst/>
          </a:prstGeom>
        </p:spPr>
      </p:pic>
      <p:pic>
        <p:nvPicPr>
          <p:cNvPr id="9" name="Picture 8" descr="image.png"/>
          <p:cNvPicPr>
            <a:picLocks noChangeAspect="1"/>
          </p:cNvPicPr>
          <p:nvPr/>
        </p:nvPicPr>
        <p:blipFill>
          <a:blip r:embed="rId8"/>
          <a:stretch>
            <a:fillRect/>
          </a:stretch>
        </p:blipFill>
        <p:spPr>
          <a:xfrm>
            <a:off x="8318450" y="2677864"/>
            <a:ext cx="1971675" cy="209550"/>
          </a:xfrm>
          <a:prstGeom prst="rect">
            <a:avLst/>
          </a:prstGeom>
        </p:spPr>
      </p:pic>
      <p:pic>
        <p:nvPicPr>
          <p:cNvPr id="10" name="Picture 9" descr="image.png"/>
          <p:cNvPicPr>
            <a:picLocks noChangeAspect="1"/>
          </p:cNvPicPr>
          <p:nvPr/>
        </p:nvPicPr>
        <p:blipFill>
          <a:blip r:embed="rId9"/>
          <a:stretch>
            <a:fillRect/>
          </a:stretch>
        </p:blipFill>
        <p:spPr>
          <a:xfrm>
            <a:off x="428625" y="6353175"/>
            <a:ext cx="11334750" cy="247650"/>
          </a:xfrm>
          <a:prstGeom prst="rect">
            <a:avLst/>
          </a:prstGeom>
        </p:spPr>
      </p:pic>
      <p:sp>
        <p:nvSpPr>
          <p:cNvPr id="11" name="TextBox 10"/>
          <p:cNvSpPr txBox="1"/>
          <p:nvPr/>
        </p:nvSpPr>
        <p:spPr>
          <a:xfrm>
            <a:off x="428625" y="333375"/>
            <a:ext cx="6174134" cy="304800"/>
          </a:xfrm>
          <a:prstGeom prst="rect">
            <a:avLst/>
          </a:prstGeom>
          <a:noFill/>
        </p:spPr>
        <p:txBody>
          <a:bodyPr wrap="square" lIns="0" tIns="0" rIns="0" bIns="0" anchor="ctr">
            <a:spAutoFit/>
          </a:bodyPr>
          <a:lstStyle/>
          <a:p>
            <a:pPr algn="l"/>
            <a:r>
              <a:rPr sz="1875" b="1" i="0" u="none">
                <a:solidFill>
                  <a:srgbClr val="FFFFFF"/>
                </a:solidFill>
                <a:latin typeface="Plus Jakarta Sans"/>
              </a:rPr>
              <a:t>HCI Element Analysis &amp; Usability Purpose</a:t>
            </a:r>
          </a:p>
        </p:txBody>
      </p:sp>
      <p:sp>
        <p:nvSpPr>
          <p:cNvPr id="12" name="TextBox 11"/>
          <p:cNvSpPr txBox="1"/>
          <p:nvPr/>
        </p:nvSpPr>
        <p:spPr>
          <a:xfrm>
            <a:off x="428625" y="6457950"/>
            <a:ext cx="4267200" cy="142875"/>
          </a:xfrm>
          <a:prstGeom prst="rect">
            <a:avLst/>
          </a:prstGeom>
          <a:noFill/>
        </p:spPr>
        <p:txBody>
          <a:bodyPr wrap="square" lIns="0" tIns="0" rIns="0" bIns="0" anchor="t">
            <a:spAutoFit/>
          </a:bodyPr>
          <a:lstStyle/>
          <a:p>
            <a:pPr algn="l"/>
            <a:r>
              <a:rPr sz="900" b="0" i="0" u="none">
                <a:solidFill>
                  <a:srgbClr val="64748B"/>
                </a:solidFill>
                <a:latin typeface="Plus Jakarta Sans"/>
              </a:rPr>
              <a:t>Fulfills Requirement: 3 interaction elements identified with usability justification</a:t>
            </a:r>
          </a:p>
        </p:txBody>
      </p:sp>
      <p:sp>
        <p:nvSpPr>
          <p:cNvPr id="13" name="TextBox 12"/>
          <p:cNvSpPr txBox="1"/>
          <p:nvPr/>
        </p:nvSpPr>
        <p:spPr>
          <a:xfrm>
            <a:off x="11163300" y="6457950"/>
            <a:ext cx="600075" cy="142875"/>
          </a:xfrm>
          <a:prstGeom prst="rect">
            <a:avLst/>
          </a:prstGeom>
          <a:noFill/>
        </p:spPr>
        <p:txBody>
          <a:bodyPr wrap="square" lIns="0" tIns="0" rIns="0" bIns="0" anchor="t">
            <a:spAutoFit/>
          </a:bodyPr>
          <a:lstStyle/>
          <a:p>
            <a:pPr algn="l"/>
            <a:r>
              <a:rPr sz="900" b="0" i="0" u="none">
                <a:solidFill>
                  <a:srgbClr val="64748B"/>
                </a:solidFill>
                <a:latin typeface="Plus Jakarta Sans"/>
              </a:rPr>
              <a:t>Slide 3 of 8</a:t>
            </a:r>
          </a:p>
        </p:txBody>
      </p:sp>
      <p:pic>
        <p:nvPicPr>
          <p:cNvPr id="14" name="Picture 13" descr="image.png"/>
          <p:cNvPicPr>
            <a:picLocks noChangeAspect="1"/>
          </p:cNvPicPr>
          <p:nvPr/>
        </p:nvPicPr>
        <p:blipFill>
          <a:blip r:embed="rId10"/>
          <a:stretch>
            <a:fillRect/>
          </a:stretch>
        </p:blipFill>
        <p:spPr>
          <a:xfrm>
            <a:off x="5653500" y="366713"/>
            <a:ext cx="1573559" cy="219075"/>
          </a:xfrm>
          <a:prstGeom prst="rect">
            <a:avLst/>
          </a:prstGeom>
        </p:spPr>
      </p:pic>
      <p:sp>
        <p:nvSpPr>
          <p:cNvPr id="15" name="TextBox 14"/>
          <p:cNvSpPr txBox="1"/>
          <p:nvPr/>
        </p:nvSpPr>
        <p:spPr>
          <a:xfrm>
            <a:off x="647700" y="3001714"/>
            <a:ext cx="3386985" cy="210442"/>
          </a:xfrm>
          <a:prstGeom prst="rect">
            <a:avLst/>
          </a:prstGeom>
          <a:noFill/>
        </p:spPr>
        <p:txBody>
          <a:bodyPr wrap="square" lIns="0" tIns="0" rIns="0" bIns="0" anchor="t">
            <a:spAutoFit/>
          </a:bodyPr>
          <a:lstStyle/>
          <a:p>
            <a:pPr algn="l">
              <a:lnSpc>
                <a:spcPts val="1657"/>
              </a:lnSpc>
            </a:pPr>
            <a:r>
              <a:rPr sz="1275" b="1" i="0" u="none">
                <a:solidFill>
                  <a:srgbClr val="FFFFFF"/>
                </a:solidFill>
                <a:latin typeface="Plus Jakarta Sans"/>
              </a:rPr>
              <a:t>Primary Search Bar &amp; Action Tool Ribbon</a:t>
            </a:r>
          </a:p>
        </p:txBody>
      </p:sp>
      <p:sp>
        <p:nvSpPr>
          <p:cNvPr id="16" name="TextBox 15"/>
          <p:cNvSpPr txBox="1"/>
          <p:nvPr/>
        </p:nvSpPr>
        <p:spPr>
          <a:xfrm>
            <a:off x="828675" y="3288357"/>
            <a:ext cx="3044725" cy="152400"/>
          </a:xfrm>
          <a:prstGeom prst="rect">
            <a:avLst/>
          </a:prstGeom>
          <a:noFill/>
        </p:spPr>
        <p:txBody>
          <a:bodyPr wrap="square" lIns="0" tIns="0" rIns="0" bIns="0" anchor="ctr">
            <a:spAutoFit/>
          </a:bodyPr>
          <a:lstStyle/>
          <a:p>
            <a:pPr algn="l"/>
            <a:r>
              <a:rPr sz="975" b="0" i="0" u="none">
                <a:solidFill>
                  <a:srgbClr val="94A3B8"/>
                </a:solidFill>
                <a:latin typeface="Plus Jakarta Sans Medium"/>
              </a:rPr>
              <a:t>"New York City" Search + Tool Icons</a:t>
            </a:r>
          </a:p>
        </p:txBody>
      </p:sp>
      <p:sp>
        <p:nvSpPr>
          <p:cNvPr id="17" name="TextBox 16"/>
          <p:cNvSpPr txBox="1"/>
          <p:nvPr/>
        </p:nvSpPr>
        <p:spPr>
          <a:xfrm>
            <a:off x="647700" y="3555057"/>
            <a:ext cx="3225700" cy="996404"/>
          </a:xfrm>
          <a:prstGeom prst="rect">
            <a:avLst/>
          </a:prstGeom>
          <a:noFill/>
        </p:spPr>
        <p:txBody>
          <a:bodyPr wrap="square" lIns="0" tIns="0" rIns="0" bIns="0" anchor="t">
            <a:spAutoFit/>
          </a:bodyPr>
          <a:lstStyle/>
          <a:p>
            <a:pPr algn="l">
              <a:lnSpc>
                <a:spcPts val="1569"/>
              </a:lnSpc>
            </a:pPr>
            <a:r>
              <a:rPr sz="1012" b="1" i="0" u="none">
                <a:solidFill>
                  <a:srgbClr val="CBD5E1"/>
                </a:solidFill>
                <a:latin typeface="Plus Jakarta Sans"/>
              </a:rPr>
              <a:t>Usability Purpose:</a:t>
            </a:r>
            <a:r>
              <a:rPr sz="1012" b="0" i="0" u="none">
                <a:solidFill>
                  <a:srgbClr val="CBD5E1"/>
                </a:solidFill>
                <a:latin typeface="Plus Jakarta Sans"/>
              </a:rPr>
              <a:t> Provides standardized text input and clear visual affordances. Users do not need to memorize geographic coordinates (X, Y latitude/longitude); typing natural language initiates an automated camera flight to the location.</a:t>
            </a:r>
          </a:p>
        </p:txBody>
      </p:sp>
      <p:sp>
        <p:nvSpPr>
          <p:cNvPr id="18" name="TextBox 17"/>
          <p:cNvSpPr txBox="1"/>
          <p:nvPr/>
        </p:nvSpPr>
        <p:spPr>
          <a:xfrm>
            <a:off x="4483000" y="3001714"/>
            <a:ext cx="3387142" cy="210442"/>
          </a:xfrm>
          <a:prstGeom prst="rect">
            <a:avLst/>
          </a:prstGeom>
          <a:noFill/>
        </p:spPr>
        <p:txBody>
          <a:bodyPr wrap="square" lIns="0" tIns="0" rIns="0" bIns="0" anchor="t">
            <a:spAutoFit/>
          </a:bodyPr>
          <a:lstStyle/>
          <a:p>
            <a:pPr algn="l">
              <a:lnSpc>
                <a:spcPts val="1657"/>
              </a:lnSpc>
            </a:pPr>
            <a:r>
              <a:rPr sz="1275" b="1" i="0" u="none">
                <a:solidFill>
                  <a:srgbClr val="FFFFFF"/>
                </a:solidFill>
                <a:latin typeface="Plus Jakarta Sans"/>
              </a:rPr>
              <a:t>Floating Landmark Pins / POI Badges</a:t>
            </a:r>
          </a:p>
        </p:txBody>
      </p:sp>
      <p:sp>
        <p:nvSpPr>
          <p:cNvPr id="19" name="TextBox 18"/>
          <p:cNvSpPr txBox="1"/>
          <p:nvPr/>
        </p:nvSpPr>
        <p:spPr>
          <a:xfrm>
            <a:off x="4635400" y="3288357"/>
            <a:ext cx="3073449" cy="152400"/>
          </a:xfrm>
          <a:prstGeom prst="rect">
            <a:avLst/>
          </a:prstGeom>
          <a:noFill/>
        </p:spPr>
        <p:txBody>
          <a:bodyPr wrap="square" lIns="0" tIns="0" rIns="0" bIns="0" anchor="ctr">
            <a:spAutoFit/>
          </a:bodyPr>
          <a:lstStyle/>
          <a:p>
            <a:pPr algn="l"/>
            <a:r>
              <a:rPr sz="975" b="0" i="0" u="none">
                <a:solidFill>
                  <a:srgbClr val="94A3B8"/>
                </a:solidFill>
                <a:latin typeface="Plus Jakarta Sans Medium"/>
              </a:rPr>
              <a:t>Times Square &amp; Empire State Badges</a:t>
            </a:r>
          </a:p>
        </p:txBody>
      </p:sp>
      <p:sp>
        <p:nvSpPr>
          <p:cNvPr id="20" name="TextBox 19"/>
          <p:cNvSpPr txBox="1"/>
          <p:nvPr/>
        </p:nvSpPr>
        <p:spPr>
          <a:xfrm>
            <a:off x="4483000" y="3555057"/>
            <a:ext cx="3225849" cy="996404"/>
          </a:xfrm>
          <a:prstGeom prst="rect">
            <a:avLst/>
          </a:prstGeom>
          <a:noFill/>
        </p:spPr>
        <p:txBody>
          <a:bodyPr wrap="square" lIns="0" tIns="0" rIns="0" bIns="0" anchor="t">
            <a:spAutoFit/>
          </a:bodyPr>
          <a:lstStyle/>
          <a:p>
            <a:pPr algn="l">
              <a:lnSpc>
                <a:spcPts val="1569"/>
              </a:lnSpc>
            </a:pPr>
            <a:r>
              <a:rPr sz="1012" b="1" i="0" u="none">
                <a:solidFill>
                  <a:srgbClr val="CBD5E1"/>
                </a:solidFill>
                <a:latin typeface="Plus Jakarta Sans"/>
              </a:rPr>
              <a:t>Usability Purpose:</a:t>
            </a:r>
            <a:r>
              <a:rPr sz="1012" b="0" i="0" u="none">
                <a:solidFill>
                  <a:srgbClr val="CBD5E1"/>
                </a:solidFill>
                <a:latin typeface="Plus Jakarta Sans"/>
              </a:rPr>
              <a:t> Delivers immediate semantic feedback. It overlays clickable metadata onto a dense raw visual environment, enabling users to identify, select, and inspect key landmarks without visual clutter.</a:t>
            </a:r>
          </a:p>
        </p:txBody>
      </p:sp>
      <p:sp>
        <p:nvSpPr>
          <p:cNvPr id="21" name="TextBox 20"/>
          <p:cNvSpPr txBox="1"/>
          <p:nvPr/>
        </p:nvSpPr>
        <p:spPr>
          <a:xfrm>
            <a:off x="8318450" y="3001714"/>
            <a:ext cx="3386985" cy="210442"/>
          </a:xfrm>
          <a:prstGeom prst="rect">
            <a:avLst/>
          </a:prstGeom>
          <a:noFill/>
        </p:spPr>
        <p:txBody>
          <a:bodyPr wrap="square" lIns="0" tIns="0" rIns="0" bIns="0" anchor="t">
            <a:spAutoFit/>
          </a:bodyPr>
          <a:lstStyle/>
          <a:p>
            <a:pPr algn="l">
              <a:lnSpc>
                <a:spcPts val="1657"/>
              </a:lnSpc>
            </a:pPr>
            <a:r>
              <a:rPr sz="1275" b="1" i="0" u="none">
                <a:solidFill>
                  <a:srgbClr val="FFFFFF"/>
                </a:solidFill>
                <a:latin typeface="Plus Jakarta Sans"/>
              </a:rPr>
              <a:t>HUD Navigation Control Cluster</a:t>
            </a:r>
          </a:p>
        </p:txBody>
      </p:sp>
      <p:sp>
        <p:nvSpPr>
          <p:cNvPr id="22" name="TextBox 21"/>
          <p:cNvSpPr txBox="1"/>
          <p:nvPr/>
        </p:nvSpPr>
        <p:spPr>
          <a:xfrm>
            <a:off x="8499425" y="3288357"/>
            <a:ext cx="3044725" cy="152400"/>
          </a:xfrm>
          <a:prstGeom prst="rect">
            <a:avLst/>
          </a:prstGeom>
          <a:noFill/>
        </p:spPr>
        <p:txBody>
          <a:bodyPr wrap="square" lIns="0" tIns="0" rIns="0" bIns="0" anchor="ctr">
            <a:spAutoFit/>
          </a:bodyPr>
          <a:lstStyle/>
          <a:p>
            <a:pPr algn="l"/>
            <a:r>
              <a:rPr sz="975" b="0" i="0" u="none">
                <a:solidFill>
                  <a:srgbClr val="94A3B8"/>
                </a:solidFill>
                <a:latin typeface="Plus Jakarta Sans Medium"/>
              </a:rPr>
              <a:t>Compass, 2D/3D, Pegman &amp; Zoom (+/−)</a:t>
            </a:r>
          </a:p>
        </p:txBody>
      </p:sp>
      <p:sp>
        <p:nvSpPr>
          <p:cNvPr id="23" name="TextBox 22"/>
          <p:cNvSpPr txBox="1"/>
          <p:nvPr/>
        </p:nvSpPr>
        <p:spPr>
          <a:xfrm>
            <a:off x="8318450" y="3555057"/>
            <a:ext cx="3225700" cy="797123"/>
          </a:xfrm>
          <a:prstGeom prst="rect">
            <a:avLst/>
          </a:prstGeom>
          <a:noFill/>
        </p:spPr>
        <p:txBody>
          <a:bodyPr wrap="square" lIns="0" tIns="0" rIns="0" bIns="0" anchor="t">
            <a:spAutoFit/>
          </a:bodyPr>
          <a:lstStyle/>
          <a:p>
            <a:pPr algn="l">
              <a:lnSpc>
                <a:spcPts val="1569"/>
              </a:lnSpc>
            </a:pPr>
            <a:r>
              <a:rPr sz="1012" b="1" i="0" u="none">
                <a:solidFill>
                  <a:srgbClr val="CBD5E1"/>
                </a:solidFill>
                <a:latin typeface="Plus Jakarta Sans"/>
              </a:rPr>
              <a:t>Usability Purpose:</a:t>
            </a:r>
            <a:r>
              <a:rPr sz="1012" b="0" i="0" u="none">
                <a:solidFill>
                  <a:srgbClr val="CBD5E1"/>
                </a:solidFill>
                <a:latin typeface="Plus Jakarta Sans"/>
              </a:rPr>
              <a:t> Offers direct-manipulation controls for users who may not know trackpad gestures or mouse-wheel combinations, providing an accessible fallback to orient heading and tilt angle.</a:t>
            </a:r>
          </a:p>
        </p:txBody>
      </p:sp>
      <p:pic>
        <p:nvPicPr>
          <p:cNvPr id="24" name="Picture 23" descr="image.png"/>
          <p:cNvPicPr>
            <a:picLocks noChangeAspect="1"/>
          </p:cNvPicPr>
          <p:nvPr/>
        </p:nvPicPr>
        <p:blipFill>
          <a:blip r:embed="rId11"/>
          <a:stretch>
            <a:fillRect/>
          </a:stretch>
        </p:blipFill>
        <p:spPr>
          <a:xfrm>
            <a:off x="647700" y="3302644"/>
            <a:ext cx="123825" cy="123825"/>
          </a:xfrm>
          <a:prstGeom prst="rect">
            <a:avLst/>
          </a:prstGeom>
        </p:spPr>
      </p:pic>
      <p:pic>
        <p:nvPicPr>
          <p:cNvPr id="25" name="Picture 24" descr="image.png"/>
          <p:cNvPicPr>
            <a:picLocks noChangeAspect="1"/>
          </p:cNvPicPr>
          <p:nvPr/>
        </p:nvPicPr>
        <p:blipFill>
          <a:blip r:embed="rId12"/>
          <a:stretch>
            <a:fillRect/>
          </a:stretch>
        </p:blipFill>
        <p:spPr>
          <a:xfrm>
            <a:off x="4483000" y="3302644"/>
            <a:ext cx="95250" cy="123825"/>
          </a:xfrm>
          <a:prstGeom prst="rect">
            <a:avLst/>
          </a:prstGeom>
        </p:spPr>
      </p:pic>
      <p:pic>
        <p:nvPicPr>
          <p:cNvPr id="26" name="Picture 25" descr="image.png"/>
          <p:cNvPicPr>
            <a:picLocks noChangeAspect="1"/>
          </p:cNvPicPr>
          <p:nvPr/>
        </p:nvPicPr>
        <p:blipFill>
          <a:blip r:embed="rId13"/>
          <a:stretch>
            <a:fillRect/>
          </a:stretch>
        </p:blipFill>
        <p:spPr>
          <a:xfrm>
            <a:off x="8318450" y="3302644"/>
            <a:ext cx="123825" cy="12382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424"/>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rotWithShape="1">
          <a:blip r:embed="rId3"/>
          <a:srcRect l="53275" t="3298" b="-2"/>
          <a:stretch/>
        </p:blipFill>
        <p:spPr>
          <a:xfrm>
            <a:off x="10744199" y="370114"/>
            <a:ext cx="1019175" cy="239486"/>
          </a:xfrm>
          <a:prstGeom prst="rect">
            <a:avLst/>
          </a:prstGeom>
        </p:spPr>
      </p:pic>
      <p:pic>
        <p:nvPicPr>
          <p:cNvPr id="4" name="Picture 3" descr="image.png"/>
          <p:cNvPicPr>
            <a:picLocks noChangeAspect="1"/>
          </p:cNvPicPr>
          <p:nvPr/>
        </p:nvPicPr>
        <p:blipFill>
          <a:blip r:embed="rId4"/>
          <a:stretch>
            <a:fillRect/>
          </a:stretch>
        </p:blipFill>
        <p:spPr>
          <a:xfrm>
            <a:off x="428625" y="1114425"/>
            <a:ext cx="11334750" cy="5000625"/>
          </a:xfrm>
          <a:prstGeom prst="rect">
            <a:avLst/>
          </a:prstGeom>
        </p:spPr>
      </p:pic>
      <p:pic>
        <p:nvPicPr>
          <p:cNvPr id="5" name="Picture 4" descr="image.png"/>
          <p:cNvPicPr>
            <a:picLocks noChangeAspect="1"/>
          </p:cNvPicPr>
          <p:nvPr/>
        </p:nvPicPr>
        <p:blipFill>
          <a:blip r:embed="rId5"/>
          <a:stretch>
            <a:fillRect/>
          </a:stretch>
        </p:blipFill>
        <p:spPr>
          <a:xfrm>
            <a:off x="428625" y="6353175"/>
            <a:ext cx="11334750" cy="247650"/>
          </a:xfrm>
          <a:prstGeom prst="rect">
            <a:avLst/>
          </a:prstGeom>
        </p:spPr>
      </p:pic>
      <p:sp>
        <p:nvSpPr>
          <p:cNvPr id="6" name="TextBox 5"/>
          <p:cNvSpPr txBox="1"/>
          <p:nvPr/>
        </p:nvSpPr>
        <p:spPr>
          <a:xfrm>
            <a:off x="428625" y="341504"/>
            <a:ext cx="8187630" cy="288541"/>
          </a:xfrm>
          <a:prstGeom prst="rect">
            <a:avLst/>
          </a:prstGeom>
          <a:noFill/>
        </p:spPr>
        <p:txBody>
          <a:bodyPr wrap="square" lIns="0" tIns="0" rIns="0" bIns="0" anchor="ctr">
            <a:spAutoFit/>
          </a:bodyPr>
          <a:lstStyle/>
          <a:p>
            <a:pPr algn="l"/>
            <a:r>
              <a:rPr sz="1875" b="1" i="0" u="none" dirty="0" smtClean="0">
                <a:solidFill>
                  <a:srgbClr val="FFFFFF"/>
                </a:solidFill>
                <a:latin typeface="Plus Jakarta Sans"/>
              </a:rPr>
              <a:t>Slide 2: Computer Graphics Focus — Brooklyn </a:t>
            </a:r>
            <a:r>
              <a:rPr lang="en-US" sz="1875" b="1" i="0" u="none" dirty="0" smtClean="0">
                <a:solidFill>
                  <a:srgbClr val="FFFFFF"/>
                </a:solidFill>
                <a:latin typeface="Plus Jakarta Sans"/>
              </a:rPr>
              <a:t>3D </a:t>
            </a:r>
            <a:r>
              <a:rPr sz="1875" b="1" i="0" u="none" dirty="0" smtClean="0">
                <a:solidFill>
                  <a:srgbClr val="FFFFFF"/>
                </a:solidFill>
                <a:latin typeface="Plus Jakarta Sans"/>
              </a:rPr>
              <a:t>Close-Up</a:t>
            </a:r>
            <a:endParaRPr sz="1875" b="1" i="0" u="none" dirty="0">
              <a:solidFill>
                <a:srgbClr val="FFFFFF"/>
              </a:solidFill>
              <a:latin typeface="Plus Jakarta Sans"/>
            </a:endParaRPr>
          </a:p>
        </p:txBody>
      </p:sp>
      <p:sp>
        <p:nvSpPr>
          <p:cNvPr id="7" name="TextBox 6"/>
          <p:cNvSpPr txBox="1"/>
          <p:nvPr/>
        </p:nvSpPr>
        <p:spPr>
          <a:xfrm>
            <a:off x="428625" y="6457950"/>
            <a:ext cx="7086600" cy="142875"/>
          </a:xfrm>
          <a:prstGeom prst="rect">
            <a:avLst/>
          </a:prstGeom>
          <a:noFill/>
        </p:spPr>
        <p:txBody>
          <a:bodyPr wrap="square" lIns="0" tIns="0" rIns="0" bIns="0" anchor="t">
            <a:spAutoFit/>
          </a:bodyPr>
          <a:lstStyle/>
          <a:p>
            <a:pPr algn="l"/>
            <a:r>
              <a:rPr sz="900" b="0" i="0" u="none">
                <a:solidFill>
                  <a:srgbClr val="64748B"/>
                </a:solidFill>
                <a:latin typeface="Plus Jakarta Sans"/>
              </a:rPr>
              <a:t>Annotations: (1) Photogrammetric 3D Mesh Geometry | (2) Texture Mapping &amp; UV Wrapping | (3) Cast Shadows &amp; Directional Sunlight</a:t>
            </a:r>
          </a:p>
        </p:txBody>
      </p:sp>
      <p:sp>
        <p:nvSpPr>
          <p:cNvPr id="8" name="TextBox 7"/>
          <p:cNvSpPr txBox="1"/>
          <p:nvPr/>
        </p:nvSpPr>
        <p:spPr>
          <a:xfrm>
            <a:off x="11153775" y="6457950"/>
            <a:ext cx="609600" cy="142875"/>
          </a:xfrm>
          <a:prstGeom prst="rect">
            <a:avLst/>
          </a:prstGeom>
          <a:noFill/>
        </p:spPr>
        <p:txBody>
          <a:bodyPr wrap="square" lIns="0" tIns="0" rIns="0" bIns="0" anchor="t">
            <a:spAutoFit/>
          </a:bodyPr>
          <a:lstStyle/>
          <a:p>
            <a:pPr algn="l"/>
            <a:r>
              <a:rPr sz="900" b="0" i="0" u="none">
                <a:solidFill>
                  <a:srgbClr val="64748B"/>
                </a:solidFill>
                <a:latin typeface="Plus Jakarta Sans"/>
              </a:rPr>
              <a:t>Slide 4 of 8</a:t>
            </a:r>
          </a:p>
        </p:txBody>
      </p:sp>
      <p:pic>
        <p:nvPicPr>
          <p:cNvPr id="9" name="Picture 8" descr="image.png"/>
          <p:cNvPicPr>
            <a:picLocks noChangeAspect="1"/>
          </p:cNvPicPr>
          <p:nvPr/>
        </p:nvPicPr>
        <p:blipFill>
          <a:blip r:embed="rId6"/>
          <a:stretch>
            <a:fillRect/>
          </a:stretch>
        </p:blipFill>
        <p:spPr>
          <a:xfrm>
            <a:off x="7515225" y="376237"/>
            <a:ext cx="1920180" cy="219075"/>
          </a:xfrm>
          <a:prstGeom prst="rect">
            <a:avLst/>
          </a:prstGeom>
        </p:spPr>
      </p:pic>
      <p:pic>
        <p:nvPicPr>
          <p:cNvPr id="10" name="Picture 9" descr="image.png"/>
          <p:cNvPicPr>
            <a:picLocks noChangeAspect="1"/>
          </p:cNvPicPr>
          <p:nvPr/>
        </p:nvPicPr>
        <p:blipFill>
          <a:blip r:embed="rId7"/>
          <a:stretch>
            <a:fillRect/>
          </a:stretch>
        </p:blipFill>
        <p:spPr>
          <a:xfrm>
            <a:off x="438150" y="1145721"/>
            <a:ext cx="11315700" cy="498157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1424"/>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9515475" y="361950"/>
            <a:ext cx="2247900" cy="247650"/>
          </a:xfrm>
          <a:prstGeom prst="rect">
            <a:avLst/>
          </a:prstGeom>
        </p:spPr>
      </p:pic>
      <p:pic>
        <p:nvPicPr>
          <p:cNvPr id="4" name="Picture 3" descr="image.png"/>
          <p:cNvPicPr>
            <a:picLocks noChangeAspect="1"/>
          </p:cNvPicPr>
          <p:nvPr/>
        </p:nvPicPr>
        <p:blipFill>
          <a:blip r:embed="rId4"/>
          <a:stretch>
            <a:fillRect/>
          </a:stretch>
        </p:blipFill>
        <p:spPr>
          <a:xfrm>
            <a:off x="428625" y="2458789"/>
            <a:ext cx="3663850" cy="2311747"/>
          </a:xfrm>
          <a:prstGeom prst="rect">
            <a:avLst/>
          </a:prstGeom>
        </p:spPr>
      </p:pic>
      <p:pic>
        <p:nvPicPr>
          <p:cNvPr id="5" name="Picture 4" descr="image.png"/>
          <p:cNvPicPr>
            <a:picLocks noChangeAspect="1"/>
          </p:cNvPicPr>
          <p:nvPr/>
        </p:nvPicPr>
        <p:blipFill>
          <a:blip r:embed="rId5"/>
          <a:stretch>
            <a:fillRect/>
          </a:stretch>
        </p:blipFill>
        <p:spPr>
          <a:xfrm>
            <a:off x="4263925" y="2458789"/>
            <a:ext cx="3663999" cy="2311747"/>
          </a:xfrm>
          <a:prstGeom prst="rect">
            <a:avLst/>
          </a:prstGeom>
        </p:spPr>
      </p:pic>
      <p:pic>
        <p:nvPicPr>
          <p:cNvPr id="6" name="Picture 5" descr="image.png"/>
          <p:cNvPicPr>
            <a:picLocks noChangeAspect="1"/>
          </p:cNvPicPr>
          <p:nvPr/>
        </p:nvPicPr>
        <p:blipFill>
          <a:blip r:embed="rId6"/>
          <a:stretch>
            <a:fillRect/>
          </a:stretch>
        </p:blipFill>
        <p:spPr>
          <a:xfrm>
            <a:off x="8099375" y="2458789"/>
            <a:ext cx="3663850" cy="2311747"/>
          </a:xfrm>
          <a:prstGeom prst="rect">
            <a:avLst/>
          </a:prstGeom>
        </p:spPr>
      </p:pic>
      <p:pic>
        <p:nvPicPr>
          <p:cNvPr id="7" name="Picture 6" descr="image.png"/>
          <p:cNvPicPr>
            <a:picLocks noChangeAspect="1"/>
          </p:cNvPicPr>
          <p:nvPr/>
        </p:nvPicPr>
        <p:blipFill>
          <a:blip r:embed="rId7"/>
          <a:stretch>
            <a:fillRect/>
          </a:stretch>
        </p:blipFill>
        <p:spPr>
          <a:xfrm>
            <a:off x="647700" y="2677864"/>
            <a:ext cx="1704975" cy="209550"/>
          </a:xfrm>
          <a:prstGeom prst="rect">
            <a:avLst/>
          </a:prstGeom>
        </p:spPr>
      </p:pic>
      <p:pic>
        <p:nvPicPr>
          <p:cNvPr id="8" name="Picture 7" descr="image.png"/>
          <p:cNvPicPr>
            <a:picLocks noChangeAspect="1"/>
          </p:cNvPicPr>
          <p:nvPr/>
        </p:nvPicPr>
        <p:blipFill>
          <a:blip r:embed="rId8"/>
          <a:stretch>
            <a:fillRect/>
          </a:stretch>
        </p:blipFill>
        <p:spPr>
          <a:xfrm>
            <a:off x="4483000" y="2677864"/>
            <a:ext cx="1971675" cy="209550"/>
          </a:xfrm>
          <a:prstGeom prst="rect">
            <a:avLst/>
          </a:prstGeom>
        </p:spPr>
      </p:pic>
      <p:pic>
        <p:nvPicPr>
          <p:cNvPr id="9" name="Picture 8" descr="image.png"/>
          <p:cNvPicPr>
            <a:picLocks noChangeAspect="1"/>
          </p:cNvPicPr>
          <p:nvPr/>
        </p:nvPicPr>
        <p:blipFill>
          <a:blip r:embed="rId9"/>
          <a:stretch>
            <a:fillRect/>
          </a:stretch>
        </p:blipFill>
        <p:spPr>
          <a:xfrm>
            <a:off x="8318450" y="2677864"/>
            <a:ext cx="2171700" cy="209550"/>
          </a:xfrm>
          <a:prstGeom prst="rect">
            <a:avLst/>
          </a:prstGeom>
        </p:spPr>
      </p:pic>
      <p:pic>
        <p:nvPicPr>
          <p:cNvPr id="10" name="Picture 9" descr="image.png"/>
          <p:cNvPicPr>
            <a:picLocks noChangeAspect="1"/>
          </p:cNvPicPr>
          <p:nvPr/>
        </p:nvPicPr>
        <p:blipFill>
          <a:blip r:embed="rId10"/>
          <a:stretch>
            <a:fillRect/>
          </a:stretch>
        </p:blipFill>
        <p:spPr>
          <a:xfrm>
            <a:off x="428625" y="6353175"/>
            <a:ext cx="11334750" cy="247650"/>
          </a:xfrm>
          <a:prstGeom prst="rect">
            <a:avLst/>
          </a:prstGeom>
        </p:spPr>
      </p:pic>
      <p:sp>
        <p:nvSpPr>
          <p:cNvPr id="11" name="TextBox 10"/>
          <p:cNvSpPr txBox="1"/>
          <p:nvPr/>
        </p:nvSpPr>
        <p:spPr>
          <a:xfrm>
            <a:off x="428625" y="333375"/>
            <a:ext cx="6617791" cy="304800"/>
          </a:xfrm>
          <a:prstGeom prst="rect">
            <a:avLst/>
          </a:prstGeom>
          <a:noFill/>
        </p:spPr>
        <p:txBody>
          <a:bodyPr wrap="square" lIns="0" tIns="0" rIns="0" bIns="0" anchor="ctr">
            <a:spAutoFit/>
          </a:bodyPr>
          <a:lstStyle/>
          <a:p>
            <a:pPr algn="l"/>
            <a:r>
              <a:rPr sz="1875" b="1" i="0" u="none">
                <a:solidFill>
                  <a:srgbClr val="FFFFFF"/>
                </a:solidFill>
                <a:latin typeface="Plus Jakarta Sans"/>
              </a:rPr>
              <a:t>CG Element Analysis &amp; 3D Space Construction</a:t>
            </a:r>
          </a:p>
        </p:txBody>
      </p:sp>
      <p:sp>
        <p:nvSpPr>
          <p:cNvPr id="12" name="TextBox 11"/>
          <p:cNvSpPr txBox="1"/>
          <p:nvPr/>
        </p:nvSpPr>
        <p:spPr>
          <a:xfrm>
            <a:off x="428625" y="6457950"/>
            <a:ext cx="4781550" cy="142875"/>
          </a:xfrm>
          <a:prstGeom prst="rect">
            <a:avLst/>
          </a:prstGeom>
          <a:noFill/>
        </p:spPr>
        <p:txBody>
          <a:bodyPr wrap="square" lIns="0" tIns="0" rIns="0" bIns="0" anchor="t">
            <a:spAutoFit/>
          </a:bodyPr>
          <a:lstStyle/>
          <a:p>
            <a:pPr algn="l"/>
            <a:r>
              <a:rPr sz="900" b="0" i="0" u="none">
                <a:solidFill>
                  <a:srgbClr val="64748B"/>
                </a:solidFill>
                <a:latin typeface="Plus Jakarta Sans"/>
              </a:rPr>
              <a:t>Fulfills Requirement: 3 rendering elements identified explaining how they create 3D space</a:t>
            </a:r>
          </a:p>
        </p:txBody>
      </p:sp>
      <p:sp>
        <p:nvSpPr>
          <p:cNvPr id="13" name="TextBox 12"/>
          <p:cNvSpPr txBox="1"/>
          <p:nvPr/>
        </p:nvSpPr>
        <p:spPr>
          <a:xfrm>
            <a:off x="11163300" y="6457950"/>
            <a:ext cx="600075" cy="142875"/>
          </a:xfrm>
          <a:prstGeom prst="rect">
            <a:avLst/>
          </a:prstGeom>
          <a:noFill/>
        </p:spPr>
        <p:txBody>
          <a:bodyPr wrap="square" lIns="0" tIns="0" rIns="0" bIns="0" anchor="t">
            <a:spAutoFit/>
          </a:bodyPr>
          <a:lstStyle/>
          <a:p>
            <a:pPr algn="l"/>
            <a:r>
              <a:rPr sz="900" b="0" i="0" u="none">
                <a:solidFill>
                  <a:srgbClr val="64748B"/>
                </a:solidFill>
                <a:latin typeface="Plus Jakarta Sans"/>
              </a:rPr>
              <a:t>Slide 5 of 8</a:t>
            </a:r>
          </a:p>
        </p:txBody>
      </p:sp>
      <p:pic>
        <p:nvPicPr>
          <p:cNvPr id="14" name="Picture 13" descr="image.png"/>
          <p:cNvPicPr>
            <a:picLocks noChangeAspect="1"/>
          </p:cNvPicPr>
          <p:nvPr/>
        </p:nvPicPr>
        <p:blipFill>
          <a:blip r:embed="rId11"/>
          <a:stretch>
            <a:fillRect/>
          </a:stretch>
        </p:blipFill>
        <p:spPr>
          <a:xfrm>
            <a:off x="5829301" y="376237"/>
            <a:ext cx="1431428" cy="219075"/>
          </a:xfrm>
          <a:prstGeom prst="rect">
            <a:avLst/>
          </a:prstGeom>
        </p:spPr>
      </p:pic>
      <p:sp>
        <p:nvSpPr>
          <p:cNvPr id="15" name="TextBox 14"/>
          <p:cNvSpPr txBox="1"/>
          <p:nvPr/>
        </p:nvSpPr>
        <p:spPr>
          <a:xfrm>
            <a:off x="647700" y="3001714"/>
            <a:ext cx="3386985" cy="210442"/>
          </a:xfrm>
          <a:prstGeom prst="rect">
            <a:avLst/>
          </a:prstGeom>
          <a:noFill/>
        </p:spPr>
        <p:txBody>
          <a:bodyPr wrap="square" lIns="0" tIns="0" rIns="0" bIns="0" anchor="t">
            <a:spAutoFit/>
          </a:bodyPr>
          <a:lstStyle/>
          <a:p>
            <a:pPr algn="l">
              <a:lnSpc>
                <a:spcPts val="1657"/>
              </a:lnSpc>
            </a:pPr>
            <a:r>
              <a:rPr sz="1275" b="1" i="0" u="none">
                <a:solidFill>
                  <a:srgbClr val="FFFFFF"/>
                </a:solidFill>
                <a:latin typeface="Plus Jakarta Sans"/>
              </a:rPr>
              <a:t>Photogrammetric 3D Mesh Geometry</a:t>
            </a:r>
          </a:p>
        </p:txBody>
      </p:sp>
      <p:sp>
        <p:nvSpPr>
          <p:cNvPr id="16" name="TextBox 15"/>
          <p:cNvSpPr txBox="1"/>
          <p:nvPr/>
        </p:nvSpPr>
        <p:spPr>
          <a:xfrm>
            <a:off x="847725" y="3288357"/>
            <a:ext cx="3025675" cy="152400"/>
          </a:xfrm>
          <a:prstGeom prst="rect">
            <a:avLst/>
          </a:prstGeom>
          <a:noFill/>
        </p:spPr>
        <p:txBody>
          <a:bodyPr wrap="square" lIns="0" tIns="0" rIns="0" bIns="0" anchor="ctr">
            <a:spAutoFit/>
          </a:bodyPr>
          <a:lstStyle/>
          <a:p>
            <a:pPr algn="l"/>
            <a:r>
              <a:rPr sz="975" b="0" i="0" u="none">
                <a:solidFill>
                  <a:srgbClr val="94A3B8"/>
                </a:solidFill>
                <a:latin typeface="Plus Jakarta Sans Medium"/>
              </a:rPr>
              <a:t>Vertical Facades &amp; Building Volumes</a:t>
            </a:r>
          </a:p>
        </p:txBody>
      </p:sp>
      <p:sp>
        <p:nvSpPr>
          <p:cNvPr id="17" name="TextBox 16"/>
          <p:cNvSpPr txBox="1"/>
          <p:nvPr/>
        </p:nvSpPr>
        <p:spPr>
          <a:xfrm>
            <a:off x="647700" y="3555057"/>
            <a:ext cx="3225700" cy="996404"/>
          </a:xfrm>
          <a:prstGeom prst="rect">
            <a:avLst/>
          </a:prstGeom>
          <a:noFill/>
        </p:spPr>
        <p:txBody>
          <a:bodyPr wrap="square" lIns="0" tIns="0" rIns="0" bIns="0" anchor="t">
            <a:spAutoFit/>
          </a:bodyPr>
          <a:lstStyle/>
          <a:p>
            <a:pPr algn="l">
              <a:lnSpc>
                <a:spcPts val="1569"/>
              </a:lnSpc>
            </a:pPr>
            <a:r>
              <a:rPr sz="1012" b="1" i="0" u="none">
                <a:solidFill>
                  <a:srgbClr val="CBD5E1"/>
                </a:solidFill>
                <a:latin typeface="Plus Jakarta Sans"/>
              </a:rPr>
              <a:t>CG Purpose:</a:t>
            </a:r>
            <a:r>
              <a:rPr sz="1012" b="0" i="0" u="none">
                <a:solidFill>
                  <a:srgbClr val="CBD5E1"/>
                </a:solidFill>
                <a:latin typeface="Plus Jakarta Sans"/>
              </a:rPr>
              <a:t> The graphics engine renders dense polygonal 3D surface geometry reconstructed from multi-angle aerial imagery, transforming flat 2D maps into volumetric shapes with height, corners, and distinct planar faces.</a:t>
            </a:r>
          </a:p>
        </p:txBody>
      </p:sp>
      <p:sp>
        <p:nvSpPr>
          <p:cNvPr id="18" name="TextBox 17"/>
          <p:cNvSpPr txBox="1"/>
          <p:nvPr/>
        </p:nvSpPr>
        <p:spPr>
          <a:xfrm>
            <a:off x="4483000" y="3001714"/>
            <a:ext cx="3387142" cy="210442"/>
          </a:xfrm>
          <a:prstGeom prst="rect">
            <a:avLst/>
          </a:prstGeom>
          <a:noFill/>
        </p:spPr>
        <p:txBody>
          <a:bodyPr wrap="square" lIns="0" tIns="0" rIns="0" bIns="0" anchor="t">
            <a:spAutoFit/>
          </a:bodyPr>
          <a:lstStyle/>
          <a:p>
            <a:pPr algn="l">
              <a:lnSpc>
                <a:spcPts val="1657"/>
              </a:lnSpc>
            </a:pPr>
            <a:r>
              <a:rPr sz="1275" b="1" i="0" u="none">
                <a:solidFill>
                  <a:srgbClr val="FFFFFF"/>
                </a:solidFill>
                <a:latin typeface="Plus Jakarta Sans"/>
              </a:rPr>
              <a:t>Texture Mapping &amp; UV Wrapping</a:t>
            </a:r>
          </a:p>
        </p:txBody>
      </p:sp>
      <p:sp>
        <p:nvSpPr>
          <p:cNvPr id="19" name="TextBox 18"/>
          <p:cNvSpPr txBox="1"/>
          <p:nvPr/>
        </p:nvSpPr>
        <p:spPr>
          <a:xfrm>
            <a:off x="4663975" y="3288357"/>
            <a:ext cx="3044874" cy="152400"/>
          </a:xfrm>
          <a:prstGeom prst="rect">
            <a:avLst/>
          </a:prstGeom>
          <a:noFill/>
        </p:spPr>
        <p:txBody>
          <a:bodyPr wrap="square" lIns="0" tIns="0" rIns="0" bIns="0" anchor="ctr">
            <a:spAutoFit/>
          </a:bodyPr>
          <a:lstStyle/>
          <a:p>
            <a:pPr algn="l"/>
            <a:r>
              <a:rPr sz="975" b="0" i="0" u="none">
                <a:solidFill>
                  <a:srgbClr val="94A3B8"/>
                </a:solidFill>
                <a:latin typeface="Plus Jakarta Sans Medium"/>
              </a:rPr>
              <a:t>Brick Textures, Windows &amp; Roadways</a:t>
            </a:r>
          </a:p>
        </p:txBody>
      </p:sp>
      <p:sp>
        <p:nvSpPr>
          <p:cNvPr id="20" name="TextBox 19"/>
          <p:cNvSpPr txBox="1"/>
          <p:nvPr/>
        </p:nvSpPr>
        <p:spPr>
          <a:xfrm>
            <a:off x="4483000" y="3555057"/>
            <a:ext cx="3225849" cy="996404"/>
          </a:xfrm>
          <a:prstGeom prst="rect">
            <a:avLst/>
          </a:prstGeom>
          <a:noFill/>
        </p:spPr>
        <p:txBody>
          <a:bodyPr wrap="square" lIns="0" tIns="0" rIns="0" bIns="0" anchor="t">
            <a:spAutoFit/>
          </a:bodyPr>
          <a:lstStyle/>
          <a:p>
            <a:pPr algn="l">
              <a:lnSpc>
                <a:spcPts val="1569"/>
              </a:lnSpc>
            </a:pPr>
            <a:r>
              <a:rPr sz="1012" b="1" i="0" u="none">
                <a:solidFill>
                  <a:srgbClr val="CBD5E1"/>
                </a:solidFill>
                <a:latin typeface="Plus Jakarta Sans"/>
              </a:rPr>
              <a:t>CG Purpose:</a:t>
            </a:r>
            <a:r>
              <a:rPr sz="1012" b="0" i="0" u="none">
                <a:solidFill>
                  <a:srgbClr val="CBD5E1"/>
                </a:solidFill>
                <a:latin typeface="Plus Jakarta Sans"/>
              </a:rPr>
              <a:t> Photographic aerial textures (diffuse maps) are projected and wrapped over the underlying polygonal wireframes (UV mapping), giving geometric meshes realistic surface colors, window details, and materials.</a:t>
            </a:r>
          </a:p>
        </p:txBody>
      </p:sp>
      <p:sp>
        <p:nvSpPr>
          <p:cNvPr id="21" name="TextBox 20"/>
          <p:cNvSpPr txBox="1"/>
          <p:nvPr/>
        </p:nvSpPr>
        <p:spPr>
          <a:xfrm>
            <a:off x="8318450" y="3001714"/>
            <a:ext cx="3386985" cy="210442"/>
          </a:xfrm>
          <a:prstGeom prst="rect">
            <a:avLst/>
          </a:prstGeom>
          <a:noFill/>
        </p:spPr>
        <p:txBody>
          <a:bodyPr wrap="square" lIns="0" tIns="0" rIns="0" bIns="0" anchor="t">
            <a:spAutoFit/>
          </a:bodyPr>
          <a:lstStyle/>
          <a:p>
            <a:pPr algn="l">
              <a:lnSpc>
                <a:spcPts val="1657"/>
              </a:lnSpc>
            </a:pPr>
            <a:r>
              <a:rPr sz="1275" b="1" i="0" u="none">
                <a:solidFill>
                  <a:srgbClr val="FFFFFF"/>
                </a:solidFill>
                <a:latin typeface="Plus Jakarta Sans"/>
              </a:rPr>
              <a:t>Cast Shadows &amp; Directional Sunlight</a:t>
            </a:r>
          </a:p>
        </p:txBody>
      </p:sp>
      <p:sp>
        <p:nvSpPr>
          <p:cNvPr id="22" name="TextBox 21"/>
          <p:cNvSpPr txBox="1"/>
          <p:nvPr/>
        </p:nvSpPr>
        <p:spPr>
          <a:xfrm>
            <a:off x="8499425" y="3288357"/>
            <a:ext cx="3044725" cy="152400"/>
          </a:xfrm>
          <a:prstGeom prst="rect">
            <a:avLst/>
          </a:prstGeom>
          <a:noFill/>
        </p:spPr>
        <p:txBody>
          <a:bodyPr wrap="square" lIns="0" tIns="0" rIns="0" bIns="0" anchor="ctr">
            <a:spAutoFit/>
          </a:bodyPr>
          <a:lstStyle/>
          <a:p>
            <a:pPr algn="l"/>
            <a:r>
              <a:rPr sz="975" b="0" i="0" u="none">
                <a:solidFill>
                  <a:srgbClr val="94A3B8"/>
                </a:solidFill>
                <a:latin typeface="Plus Jakarta Sans Medium"/>
              </a:rPr>
              <a:t>Ground Shadow Patches at Building Bases</a:t>
            </a:r>
          </a:p>
        </p:txBody>
      </p:sp>
      <p:sp>
        <p:nvSpPr>
          <p:cNvPr id="23" name="TextBox 22"/>
          <p:cNvSpPr txBox="1"/>
          <p:nvPr/>
        </p:nvSpPr>
        <p:spPr>
          <a:xfrm>
            <a:off x="8318450" y="3555057"/>
            <a:ext cx="3225700" cy="996404"/>
          </a:xfrm>
          <a:prstGeom prst="rect">
            <a:avLst/>
          </a:prstGeom>
          <a:noFill/>
        </p:spPr>
        <p:txBody>
          <a:bodyPr wrap="square" lIns="0" tIns="0" rIns="0" bIns="0" anchor="t">
            <a:spAutoFit/>
          </a:bodyPr>
          <a:lstStyle/>
          <a:p>
            <a:pPr algn="l">
              <a:lnSpc>
                <a:spcPts val="1569"/>
              </a:lnSpc>
            </a:pPr>
            <a:r>
              <a:rPr sz="1012" b="1" i="0" u="none">
                <a:solidFill>
                  <a:srgbClr val="CBD5E1"/>
                </a:solidFill>
                <a:latin typeface="Plus Jakarta Sans"/>
              </a:rPr>
              <a:t>CG Purpose:</a:t>
            </a:r>
            <a:r>
              <a:rPr sz="1012" b="0" i="0" u="none">
                <a:solidFill>
                  <a:srgbClr val="CBD5E1"/>
                </a:solidFill>
                <a:latin typeface="Plus Jakarta Sans"/>
              </a:rPr>
              <a:t> Sunlight direction and occlusion calculate light intensity relative to surface normal vectors. The resulting cast shadows provide essential depth perception, grounding the buildings to the terrain so they do not appear to float in space.</a:t>
            </a:r>
          </a:p>
        </p:txBody>
      </p:sp>
      <p:pic>
        <p:nvPicPr>
          <p:cNvPr id="24" name="Picture 23" descr="image.png"/>
          <p:cNvPicPr>
            <a:picLocks noChangeAspect="1"/>
          </p:cNvPicPr>
          <p:nvPr/>
        </p:nvPicPr>
        <p:blipFill>
          <a:blip r:embed="rId12"/>
          <a:stretch>
            <a:fillRect/>
          </a:stretch>
        </p:blipFill>
        <p:spPr>
          <a:xfrm>
            <a:off x="647700" y="3302644"/>
            <a:ext cx="142875" cy="123825"/>
          </a:xfrm>
          <a:prstGeom prst="rect">
            <a:avLst/>
          </a:prstGeom>
        </p:spPr>
      </p:pic>
      <p:pic>
        <p:nvPicPr>
          <p:cNvPr id="25" name="Picture 24" descr="image.png"/>
          <p:cNvPicPr>
            <a:picLocks noChangeAspect="1"/>
          </p:cNvPicPr>
          <p:nvPr/>
        </p:nvPicPr>
        <p:blipFill>
          <a:blip r:embed="rId13"/>
          <a:stretch>
            <a:fillRect/>
          </a:stretch>
        </p:blipFill>
        <p:spPr>
          <a:xfrm>
            <a:off x="4483000" y="3302644"/>
            <a:ext cx="123825" cy="123825"/>
          </a:xfrm>
          <a:prstGeom prst="rect">
            <a:avLst/>
          </a:prstGeom>
        </p:spPr>
      </p:pic>
      <p:pic>
        <p:nvPicPr>
          <p:cNvPr id="26" name="Picture 25" descr="image.png"/>
          <p:cNvPicPr>
            <a:picLocks noChangeAspect="1"/>
          </p:cNvPicPr>
          <p:nvPr/>
        </p:nvPicPr>
        <p:blipFill>
          <a:blip r:embed="rId14"/>
          <a:stretch>
            <a:fillRect/>
          </a:stretch>
        </p:blipFill>
        <p:spPr>
          <a:xfrm>
            <a:off x="8318450" y="3302644"/>
            <a:ext cx="123825" cy="123825"/>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E1424"/>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87085"/>
            <a:ext cx="12192000" cy="6858000"/>
          </a:xfrm>
          <a:prstGeom prst="rect">
            <a:avLst/>
          </a:prstGeom>
        </p:spPr>
      </p:pic>
      <p:pic>
        <p:nvPicPr>
          <p:cNvPr id="3" name="Picture 2" descr="image.png"/>
          <p:cNvPicPr>
            <a:picLocks noChangeAspect="1"/>
          </p:cNvPicPr>
          <p:nvPr/>
        </p:nvPicPr>
        <p:blipFill>
          <a:blip r:embed="rId3"/>
          <a:stretch>
            <a:fillRect/>
          </a:stretch>
        </p:blipFill>
        <p:spPr>
          <a:xfrm>
            <a:off x="9582150" y="361950"/>
            <a:ext cx="2181225" cy="247650"/>
          </a:xfrm>
          <a:prstGeom prst="rect">
            <a:avLst/>
          </a:prstGeom>
        </p:spPr>
      </p:pic>
      <p:pic>
        <p:nvPicPr>
          <p:cNvPr id="4" name="Picture 3" descr="image.png"/>
          <p:cNvPicPr>
            <a:picLocks noChangeAspect="1"/>
          </p:cNvPicPr>
          <p:nvPr/>
        </p:nvPicPr>
        <p:blipFill>
          <a:blip r:embed="rId4"/>
          <a:stretch>
            <a:fillRect/>
          </a:stretch>
        </p:blipFill>
        <p:spPr>
          <a:xfrm>
            <a:off x="428625" y="2473969"/>
            <a:ext cx="11334750" cy="714077"/>
          </a:xfrm>
          <a:prstGeom prst="rect">
            <a:avLst/>
          </a:prstGeom>
        </p:spPr>
      </p:pic>
      <p:pic>
        <p:nvPicPr>
          <p:cNvPr id="5" name="Picture 4" descr="image.png"/>
          <p:cNvPicPr>
            <a:picLocks noChangeAspect="1"/>
          </p:cNvPicPr>
          <p:nvPr/>
        </p:nvPicPr>
        <p:blipFill>
          <a:blip r:embed="rId5"/>
          <a:stretch>
            <a:fillRect/>
          </a:stretch>
        </p:blipFill>
        <p:spPr>
          <a:xfrm>
            <a:off x="428625" y="3321397"/>
            <a:ext cx="5572125" cy="1434107"/>
          </a:xfrm>
          <a:prstGeom prst="rect">
            <a:avLst/>
          </a:prstGeom>
        </p:spPr>
      </p:pic>
      <p:pic>
        <p:nvPicPr>
          <p:cNvPr id="6" name="Picture 5" descr="image.png"/>
          <p:cNvPicPr>
            <a:picLocks noChangeAspect="1"/>
          </p:cNvPicPr>
          <p:nvPr/>
        </p:nvPicPr>
        <p:blipFill>
          <a:blip r:embed="rId6"/>
          <a:stretch>
            <a:fillRect/>
          </a:stretch>
        </p:blipFill>
        <p:spPr>
          <a:xfrm>
            <a:off x="6191250" y="3321397"/>
            <a:ext cx="5572125" cy="1434107"/>
          </a:xfrm>
          <a:prstGeom prst="rect">
            <a:avLst/>
          </a:prstGeom>
        </p:spPr>
      </p:pic>
      <p:pic>
        <p:nvPicPr>
          <p:cNvPr id="7" name="Picture 6" descr="image.png"/>
          <p:cNvPicPr>
            <a:picLocks noChangeAspect="1"/>
          </p:cNvPicPr>
          <p:nvPr/>
        </p:nvPicPr>
        <p:blipFill>
          <a:blip r:embed="rId7"/>
          <a:stretch>
            <a:fillRect/>
          </a:stretch>
        </p:blipFill>
        <p:spPr>
          <a:xfrm>
            <a:off x="428625" y="6353175"/>
            <a:ext cx="11334750" cy="247650"/>
          </a:xfrm>
          <a:prstGeom prst="rect">
            <a:avLst/>
          </a:prstGeom>
        </p:spPr>
      </p:pic>
      <p:sp>
        <p:nvSpPr>
          <p:cNvPr id="8" name="TextBox 7"/>
          <p:cNvSpPr txBox="1"/>
          <p:nvPr/>
        </p:nvSpPr>
        <p:spPr>
          <a:xfrm>
            <a:off x="428625" y="341504"/>
            <a:ext cx="6860381" cy="288541"/>
          </a:xfrm>
          <a:prstGeom prst="rect">
            <a:avLst/>
          </a:prstGeom>
          <a:noFill/>
        </p:spPr>
        <p:txBody>
          <a:bodyPr wrap="square" lIns="0" tIns="0" rIns="0" bIns="0" anchor="ctr">
            <a:spAutoFit/>
          </a:bodyPr>
          <a:lstStyle/>
          <a:p>
            <a:pPr algn="l"/>
            <a:r>
              <a:rPr sz="1875" b="1" i="0" u="none" dirty="0">
                <a:solidFill>
                  <a:srgbClr val="FFFFFF"/>
                </a:solidFill>
                <a:latin typeface="Plus Jakarta Sans"/>
              </a:rPr>
              <a:t>Step 3: Reflection </a:t>
            </a:r>
            <a:r>
              <a:rPr sz="1875" b="1" i="0" u="none" dirty="0" smtClean="0">
                <a:solidFill>
                  <a:srgbClr val="FFFFFF"/>
                </a:solidFill>
                <a:latin typeface="Plus Jakarta Sans"/>
              </a:rPr>
              <a:t>1</a:t>
            </a:r>
            <a:r>
              <a:rPr lang="en-US" sz="1875" b="1" i="0" u="none" dirty="0" smtClean="0">
                <a:solidFill>
                  <a:srgbClr val="FFFFFF"/>
                </a:solidFill>
                <a:latin typeface="Plus Jakarta Sans"/>
              </a:rPr>
              <a:t>,</a:t>
            </a:r>
            <a:r>
              <a:rPr sz="1875" b="1" i="0" u="none" dirty="0" smtClean="0">
                <a:solidFill>
                  <a:srgbClr val="FFFFFF"/>
                </a:solidFill>
                <a:latin typeface="Plus Jakarta Sans"/>
              </a:rPr>
              <a:t> </a:t>
            </a:r>
            <a:r>
              <a:rPr sz="1875" b="1" i="0" u="none" dirty="0">
                <a:solidFill>
                  <a:srgbClr val="FFFFFF"/>
                </a:solidFill>
                <a:latin typeface="Plus Jakarta Sans"/>
              </a:rPr>
              <a:t>CG Quality vs. Interactivity</a:t>
            </a:r>
          </a:p>
        </p:txBody>
      </p:sp>
      <p:sp>
        <p:nvSpPr>
          <p:cNvPr id="9" name="TextBox 8"/>
          <p:cNvSpPr txBox="1"/>
          <p:nvPr/>
        </p:nvSpPr>
        <p:spPr>
          <a:xfrm>
            <a:off x="428625" y="6457950"/>
            <a:ext cx="5153025" cy="142875"/>
          </a:xfrm>
          <a:prstGeom prst="rect">
            <a:avLst/>
          </a:prstGeom>
          <a:noFill/>
        </p:spPr>
        <p:txBody>
          <a:bodyPr wrap="square" lIns="0" tIns="0" rIns="0" bIns="0" anchor="t">
            <a:spAutoFit/>
          </a:bodyPr>
          <a:lstStyle/>
          <a:p>
            <a:pPr algn="l"/>
            <a:r>
              <a:rPr sz="900" b="0" i="0" u="none" dirty="0" smtClean="0">
                <a:solidFill>
                  <a:srgbClr val="64748B"/>
                </a:solidFill>
                <a:latin typeface="Plus Jakarta Sans"/>
              </a:rPr>
              <a:t>Connects real-time computer graphics rendering fidelity directly to </a:t>
            </a:r>
            <a:r>
              <a:rPr sz="900" b="0" i="0" u="none" dirty="0" err="1" smtClean="0">
                <a:solidFill>
                  <a:srgbClr val="64748B"/>
                </a:solidFill>
                <a:latin typeface="Plus Jakarta Sans"/>
              </a:rPr>
              <a:t>uability</a:t>
            </a:r>
            <a:r>
              <a:rPr sz="900" b="0" i="0" u="none" dirty="0" smtClean="0">
                <a:solidFill>
                  <a:srgbClr val="64748B"/>
                </a:solidFill>
                <a:latin typeface="Plus Jakarta Sans"/>
              </a:rPr>
              <a:t> and mental models</a:t>
            </a:r>
            <a:endParaRPr sz="900" b="0" i="0" u="none" dirty="0">
              <a:solidFill>
                <a:srgbClr val="64748B"/>
              </a:solidFill>
              <a:latin typeface="Plus Jakarta Sans"/>
            </a:endParaRPr>
          </a:p>
        </p:txBody>
      </p:sp>
      <p:sp>
        <p:nvSpPr>
          <p:cNvPr id="10" name="TextBox 9"/>
          <p:cNvSpPr txBox="1"/>
          <p:nvPr/>
        </p:nvSpPr>
        <p:spPr>
          <a:xfrm>
            <a:off x="11163300" y="6457950"/>
            <a:ext cx="600075" cy="142875"/>
          </a:xfrm>
          <a:prstGeom prst="rect">
            <a:avLst/>
          </a:prstGeom>
          <a:noFill/>
        </p:spPr>
        <p:txBody>
          <a:bodyPr wrap="square" lIns="0" tIns="0" rIns="0" bIns="0" anchor="t">
            <a:spAutoFit/>
          </a:bodyPr>
          <a:lstStyle/>
          <a:p>
            <a:pPr algn="l"/>
            <a:r>
              <a:rPr sz="900" b="0" i="0" u="none">
                <a:solidFill>
                  <a:srgbClr val="64748B"/>
                </a:solidFill>
                <a:latin typeface="Plus Jakarta Sans"/>
              </a:rPr>
              <a:t>Slide 6 of 8</a:t>
            </a:r>
          </a:p>
        </p:txBody>
      </p:sp>
      <p:pic>
        <p:nvPicPr>
          <p:cNvPr id="11" name="Picture 10" descr="image.png"/>
          <p:cNvPicPr>
            <a:picLocks noChangeAspect="1"/>
          </p:cNvPicPr>
          <p:nvPr/>
        </p:nvPicPr>
        <p:blipFill>
          <a:blip r:embed="rId8"/>
          <a:stretch>
            <a:fillRect/>
          </a:stretch>
        </p:blipFill>
        <p:spPr>
          <a:xfrm>
            <a:off x="5862637" y="376237"/>
            <a:ext cx="1426368" cy="219075"/>
          </a:xfrm>
          <a:prstGeom prst="rect">
            <a:avLst/>
          </a:prstGeom>
        </p:spPr>
      </p:pic>
      <p:sp>
        <p:nvSpPr>
          <p:cNvPr id="12" name="TextBox 11"/>
          <p:cNvSpPr txBox="1"/>
          <p:nvPr/>
        </p:nvSpPr>
        <p:spPr>
          <a:xfrm>
            <a:off x="676275" y="2626369"/>
            <a:ext cx="10877550" cy="133350"/>
          </a:xfrm>
          <a:prstGeom prst="rect">
            <a:avLst/>
          </a:prstGeom>
          <a:noFill/>
        </p:spPr>
        <p:txBody>
          <a:bodyPr wrap="square" lIns="0" tIns="0" rIns="0" bIns="0" anchor="t">
            <a:spAutoFit/>
          </a:bodyPr>
          <a:lstStyle/>
          <a:p>
            <a:pPr algn="l"/>
            <a:r>
              <a:rPr sz="825" b="0" i="0" u="none">
                <a:solidFill>
                  <a:srgbClr val="38BDF8"/>
                </a:solidFill>
                <a:latin typeface="JetBrains Mono SemiBold"/>
              </a:rPr>
              <a:t>REFLECTION QUESTION 1</a:t>
            </a:r>
          </a:p>
        </p:txBody>
      </p:sp>
      <p:sp>
        <p:nvSpPr>
          <p:cNvPr id="13" name="TextBox 12"/>
          <p:cNvSpPr txBox="1"/>
          <p:nvPr/>
        </p:nvSpPr>
        <p:spPr>
          <a:xfrm>
            <a:off x="676275" y="2797819"/>
            <a:ext cx="10877550" cy="237827"/>
          </a:xfrm>
          <a:prstGeom prst="rect">
            <a:avLst/>
          </a:prstGeom>
          <a:noFill/>
        </p:spPr>
        <p:txBody>
          <a:bodyPr wrap="square" lIns="0" tIns="0" rIns="0" bIns="0" anchor="t">
            <a:spAutoFit/>
          </a:bodyPr>
          <a:lstStyle/>
          <a:p>
            <a:pPr algn="l">
              <a:lnSpc>
                <a:spcPts val="1873"/>
              </a:lnSpc>
            </a:pPr>
            <a:r>
              <a:rPr sz="1387" b="1" i="0" u="none" dirty="0">
                <a:solidFill>
                  <a:srgbClr val="FFFFFF"/>
                </a:solidFill>
                <a:latin typeface="Plus Jakarta Sans"/>
              </a:rPr>
              <a:t>How does the Computer Graphics quality help or hinder the user's ability to interact with the software?</a:t>
            </a:r>
          </a:p>
        </p:txBody>
      </p:sp>
      <p:sp>
        <p:nvSpPr>
          <p:cNvPr id="14" name="TextBox 13"/>
          <p:cNvSpPr txBox="1"/>
          <p:nvPr/>
        </p:nvSpPr>
        <p:spPr>
          <a:xfrm>
            <a:off x="647700" y="3873847"/>
            <a:ext cx="5133975" cy="635687"/>
          </a:xfrm>
          <a:prstGeom prst="rect">
            <a:avLst/>
          </a:prstGeom>
          <a:noFill/>
        </p:spPr>
        <p:txBody>
          <a:bodyPr wrap="square" lIns="0" tIns="0" rIns="0" bIns="0" anchor="t">
            <a:spAutoFit/>
          </a:bodyPr>
          <a:lstStyle/>
          <a:p>
            <a:pPr>
              <a:lnSpc>
                <a:spcPts val="1739"/>
              </a:lnSpc>
            </a:pPr>
            <a:r>
              <a:rPr lang="en-US" sz="1100" dirty="0">
                <a:solidFill>
                  <a:schemeClr val="bg1"/>
                </a:solidFill>
              </a:rPr>
              <a:t>High-quality 3D graphics, realistic lighting, and shadows help users understand the environment and navigate the software more easily. Clear buildings, roads, and terrain improve spatial awareness and make interaction more intuitive.</a:t>
            </a:r>
            <a:endParaRPr sz="1087" b="0" i="0" u="none" dirty="0">
              <a:solidFill>
                <a:schemeClr val="bg1"/>
              </a:solidFill>
              <a:latin typeface="Plus Jakarta Sans"/>
            </a:endParaRPr>
          </a:p>
        </p:txBody>
      </p:sp>
      <p:sp>
        <p:nvSpPr>
          <p:cNvPr id="15" name="TextBox 14"/>
          <p:cNvSpPr txBox="1"/>
          <p:nvPr/>
        </p:nvSpPr>
        <p:spPr>
          <a:xfrm>
            <a:off x="6410325" y="3873847"/>
            <a:ext cx="5133975" cy="635687"/>
          </a:xfrm>
          <a:prstGeom prst="rect">
            <a:avLst/>
          </a:prstGeom>
          <a:noFill/>
        </p:spPr>
        <p:txBody>
          <a:bodyPr wrap="square" lIns="0" tIns="0" rIns="0" bIns="0" anchor="t">
            <a:spAutoFit/>
          </a:bodyPr>
          <a:lstStyle/>
          <a:p>
            <a:pPr>
              <a:lnSpc>
                <a:spcPts val="1739"/>
              </a:lnSpc>
            </a:pPr>
            <a:r>
              <a:rPr lang="en-US" sz="1100">
                <a:solidFill>
                  <a:schemeClr val="bg1"/>
                </a:solidFill>
              </a:rPr>
              <a:t>Very detailed graphics can create visual clutter and make some objects difficult to recognize. Complex rendering can also cause lag on slower devices, making navigation and interaction less responsive.</a:t>
            </a:r>
            <a:endParaRPr sz="1087" b="0" i="0" u="none" dirty="0">
              <a:solidFill>
                <a:schemeClr val="bg1"/>
              </a:solidFill>
              <a:latin typeface="Plus Jakarta Sans"/>
            </a:endParaRPr>
          </a:p>
        </p:txBody>
      </p:sp>
      <p:pic>
        <p:nvPicPr>
          <p:cNvPr id="16" name="Picture 15" descr="image.png"/>
          <p:cNvPicPr>
            <a:picLocks noChangeAspect="1"/>
          </p:cNvPicPr>
          <p:nvPr/>
        </p:nvPicPr>
        <p:blipFill>
          <a:blip r:embed="rId9"/>
          <a:stretch>
            <a:fillRect/>
          </a:stretch>
        </p:blipFill>
        <p:spPr>
          <a:xfrm>
            <a:off x="647700" y="3583334"/>
            <a:ext cx="152400" cy="152400"/>
          </a:xfrm>
          <a:prstGeom prst="rect">
            <a:avLst/>
          </a:prstGeom>
        </p:spPr>
      </p:pic>
      <p:sp>
        <p:nvSpPr>
          <p:cNvPr id="17" name="TextBox 16"/>
          <p:cNvSpPr txBox="1"/>
          <p:nvPr/>
        </p:nvSpPr>
        <p:spPr>
          <a:xfrm>
            <a:off x="895350" y="3559522"/>
            <a:ext cx="2847975" cy="200025"/>
          </a:xfrm>
          <a:prstGeom prst="rect">
            <a:avLst/>
          </a:prstGeom>
          <a:noFill/>
        </p:spPr>
        <p:txBody>
          <a:bodyPr wrap="square" lIns="0" tIns="0" rIns="0" bIns="0" anchor="t">
            <a:spAutoFit/>
          </a:bodyPr>
          <a:lstStyle/>
          <a:p>
            <a:pPr algn="l"/>
            <a:r>
              <a:rPr sz="1200" b="1" i="0" u="none">
                <a:solidFill>
                  <a:srgbClr val="FFFFFF"/>
                </a:solidFill>
                <a:latin typeface="Plus Jakarta Sans"/>
              </a:rPr>
              <a:t>How Computer Graphics Quality Helps</a:t>
            </a:r>
          </a:p>
        </p:txBody>
      </p:sp>
      <p:pic>
        <p:nvPicPr>
          <p:cNvPr id="18" name="Picture 17" descr="image.png"/>
          <p:cNvPicPr>
            <a:picLocks noChangeAspect="1"/>
          </p:cNvPicPr>
          <p:nvPr/>
        </p:nvPicPr>
        <p:blipFill>
          <a:blip r:embed="rId10"/>
          <a:stretch>
            <a:fillRect/>
          </a:stretch>
        </p:blipFill>
        <p:spPr>
          <a:xfrm>
            <a:off x="6410325" y="3583334"/>
            <a:ext cx="152400" cy="152400"/>
          </a:xfrm>
          <a:prstGeom prst="rect">
            <a:avLst/>
          </a:prstGeom>
        </p:spPr>
      </p:pic>
      <p:sp>
        <p:nvSpPr>
          <p:cNvPr id="19" name="TextBox 18"/>
          <p:cNvSpPr txBox="1"/>
          <p:nvPr/>
        </p:nvSpPr>
        <p:spPr>
          <a:xfrm>
            <a:off x="6657975" y="3559522"/>
            <a:ext cx="2990850" cy="200025"/>
          </a:xfrm>
          <a:prstGeom prst="rect">
            <a:avLst/>
          </a:prstGeom>
          <a:noFill/>
        </p:spPr>
        <p:txBody>
          <a:bodyPr wrap="square" lIns="0" tIns="0" rIns="0" bIns="0" anchor="t">
            <a:spAutoFit/>
          </a:bodyPr>
          <a:lstStyle/>
          <a:p>
            <a:pPr algn="l"/>
            <a:r>
              <a:rPr sz="1200" b="1" i="0" u="none">
                <a:solidFill>
                  <a:srgbClr val="FFFFFF"/>
                </a:solidFill>
                <a:latin typeface="Plus Jakarta Sans"/>
              </a:rPr>
              <a:t>How Computer Graphics Quality Hinders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1424"/>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54430"/>
            <a:ext cx="12192000" cy="6858000"/>
          </a:xfrm>
          <a:prstGeom prst="rect">
            <a:avLst/>
          </a:prstGeom>
        </p:spPr>
      </p:pic>
      <p:pic>
        <p:nvPicPr>
          <p:cNvPr id="3" name="Picture 2" descr="image.png"/>
          <p:cNvPicPr>
            <a:picLocks noChangeAspect="1"/>
          </p:cNvPicPr>
          <p:nvPr/>
        </p:nvPicPr>
        <p:blipFill>
          <a:blip r:embed="rId3"/>
          <a:stretch>
            <a:fillRect/>
          </a:stretch>
        </p:blipFill>
        <p:spPr>
          <a:xfrm>
            <a:off x="10048875" y="361950"/>
            <a:ext cx="1714500" cy="247650"/>
          </a:xfrm>
          <a:prstGeom prst="rect">
            <a:avLst/>
          </a:prstGeom>
        </p:spPr>
      </p:pic>
      <p:pic>
        <p:nvPicPr>
          <p:cNvPr id="4" name="Picture 3" descr="image.png"/>
          <p:cNvPicPr>
            <a:picLocks noChangeAspect="1"/>
          </p:cNvPicPr>
          <p:nvPr/>
        </p:nvPicPr>
        <p:blipFill>
          <a:blip r:embed="rId4"/>
          <a:stretch>
            <a:fillRect/>
          </a:stretch>
        </p:blipFill>
        <p:spPr>
          <a:xfrm>
            <a:off x="428625" y="2042666"/>
            <a:ext cx="11334750" cy="714077"/>
          </a:xfrm>
          <a:prstGeom prst="rect">
            <a:avLst/>
          </a:prstGeom>
        </p:spPr>
      </p:pic>
      <p:pic>
        <p:nvPicPr>
          <p:cNvPr id="5" name="Picture 4" descr="image.png"/>
          <p:cNvPicPr>
            <a:picLocks noChangeAspect="1"/>
          </p:cNvPicPr>
          <p:nvPr/>
        </p:nvPicPr>
        <p:blipFill>
          <a:blip r:embed="rId5"/>
          <a:stretch>
            <a:fillRect/>
          </a:stretch>
        </p:blipFill>
        <p:spPr>
          <a:xfrm>
            <a:off x="428625" y="2890093"/>
            <a:ext cx="11334750" cy="2296715"/>
          </a:xfrm>
          <a:prstGeom prst="rect">
            <a:avLst/>
          </a:prstGeom>
        </p:spPr>
      </p:pic>
      <p:pic>
        <p:nvPicPr>
          <p:cNvPr id="6" name="Picture 5" descr="image.png"/>
          <p:cNvPicPr>
            <a:picLocks noChangeAspect="1"/>
          </p:cNvPicPr>
          <p:nvPr/>
        </p:nvPicPr>
        <p:blipFill>
          <a:blip r:embed="rId6"/>
          <a:stretch>
            <a:fillRect/>
          </a:stretch>
        </p:blipFill>
        <p:spPr>
          <a:xfrm>
            <a:off x="647700" y="4120008"/>
            <a:ext cx="5381625" cy="847725"/>
          </a:xfrm>
          <a:prstGeom prst="rect">
            <a:avLst/>
          </a:prstGeom>
        </p:spPr>
      </p:pic>
      <p:pic>
        <p:nvPicPr>
          <p:cNvPr id="7" name="Picture 6" descr="image.png"/>
          <p:cNvPicPr>
            <a:picLocks noChangeAspect="1"/>
          </p:cNvPicPr>
          <p:nvPr/>
        </p:nvPicPr>
        <p:blipFill>
          <a:blip r:embed="rId6"/>
          <a:stretch>
            <a:fillRect/>
          </a:stretch>
        </p:blipFill>
        <p:spPr>
          <a:xfrm>
            <a:off x="6162675" y="4120008"/>
            <a:ext cx="5381625" cy="847725"/>
          </a:xfrm>
          <a:prstGeom prst="rect">
            <a:avLst/>
          </a:prstGeom>
        </p:spPr>
      </p:pic>
      <p:pic>
        <p:nvPicPr>
          <p:cNvPr id="8" name="Picture 7" descr="image.png"/>
          <p:cNvPicPr>
            <a:picLocks noChangeAspect="1"/>
          </p:cNvPicPr>
          <p:nvPr/>
        </p:nvPicPr>
        <p:blipFill>
          <a:blip r:embed="rId7"/>
          <a:stretch>
            <a:fillRect/>
          </a:stretch>
        </p:blipFill>
        <p:spPr>
          <a:xfrm>
            <a:off x="428625" y="6353175"/>
            <a:ext cx="11334750" cy="247650"/>
          </a:xfrm>
          <a:prstGeom prst="rect">
            <a:avLst/>
          </a:prstGeom>
        </p:spPr>
      </p:pic>
      <p:sp>
        <p:nvSpPr>
          <p:cNvPr id="9" name="TextBox 8"/>
          <p:cNvSpPr txBox="1"/>
          <p:nvPr/>
        </p:nvSpPr>
        <p:spPr>
          <a:xfrm>
            <a:off x="428625" y="341504"/>
            <a:ext cx="7041356" cy="288541"/>
          </a:xfrm>
          <a:prstGeom prst="rect">
            <a:avLst/>
          </a:prstGeom>
          <a:noFill/>
        </p:spPr>
        <p:txBody>
          <a:bodyPr wrap="square" lIns="0" tIns="0" rIns="0" bIns="0" anchor="ctr">
            <a:spAutoFit/>
          </a:bodyPr>
          <a:lstStyle/>
          <a:p>
            <a:pPr algn="l"/>
            <a:r>
              <a:rPr sz="1875" b="1" i="0" u="none" dirty="0" smtClean="0">
                <a:solidFill>
                  <a:srgbClr val="FFFFFF"/>
                </a:solidFill>
                <a:latin typeface="Plus Jakarta Sans"/>
              </a:rPr>
              <a:t>Step 3: Reflection 2</a:t>
            </a:r>
            <a:r>
              <a:rPr lang="en-US" sz="1875" b="1" i="0" u="none" dirty="0" smtClean="0">
                <a:solidFill>
                  <a:srgbClr val="FFFFFF"/>
                </a:solidFill>
                <a:latin typeface="Plus Jakarta Sans"/>
              </a:rPr>
              <a:t>,</a:t>
            </a:r>
            <a:r>
              <a:rPr sz="1875" b="1" i="0" u="none" dirty="0" smtClean="0">
                <a:solidFill>
                  <a:srgbClr val="FFFFFF"/>
                </a:solidFill>
                <a:latin typeface="Plus Jakarta Sans"/>
              </a:rPr>
              <a:t> Proposed </a:t>
            </a:r>
            <a:r>
              <a:rPr sz="1875" b="1" i="0" u="none" dirty="0">
                <a:solidFill>
                  <a:srgbClr val="FFFFFF"/>
                </a:solidFill>
                <a:latin typeface="Plus Jakarta Sans"/>
              </a:rPr>
              <a:t>HCI Improvement</a:t>
            </a:r>
          </a:p>
        </p:txBody>
      </p:sp>
      <p:sp>
        <p:nvSpPr>
          <p:cNvPr id="10" name="TextBox 9"/>
          <p:cNvSpPr txBox="1"/>
          <p:nvPr/>
        </p:nvSpPr>
        <p:spPr>
          <a:xfrm>
            <a:off x="428625" y="6457950"/>
            <a:ext cx="4581525" cy="142875"/>
          </a:xfrm>
          <a:prstGeom prst="rect">
            <a:avLst/>
          </a:prstGeom>
          <a:noFill/>
        </p:spPr>
        <p:txBody>
          <a:bodyPr wrap="square" lIns="0" tIns="0" rIns="0" bIns="0" anchor="t">
            <a:spAutoFit/>
          </a:bodyPr>
          <a:lstStyle/>
          <a:p>
            <a:pPr algn="l"/>
            <a:r>
              <a:rPr sz="900" b="0" i="0" u="none">
                <a:solidFill>
                  <a:srgbClr val="64748B"/>
                </a:solidFill>
                <a:latin typeface="Plus Jakarta Sans"/>
              </a:rPr>
              <a:t>Concrete UI improvement balancing informational utility with clean visual exploration</a:t>
            </a:r>
          </a:p>
        </p:txBody>
      </p:sp>
      <p:sp>
        <p:nvSpPr>
          <p:cNvPr id="11" name="TextBox 10"/>
          <p:cNvSpPr txBox="1"/>
          <p:nvPr/>
        </p:nvSpPr>
        <p:spPr>
          <a:xfrm>
            <a:off x="11163300" y="6457950"/>
            <a:ext cx="600075" cy="142875"/>
          </a:xfrm>
          <a:prstGeom prst="rect">
            <a:avLst/>
          </a:prstGeom>
          <a:noFill/>
        </p:spPr>
        <p:txBody>
          <a:bodyPr wrap="square" lIns="0" tIns="0" rIns="0" bIns="0" anchor="t">
            <a:spAutoFit/>
          </a:bodyPr>
          <a:lstStyle/>
          <a:p>
            <a:pPr algn="l"/>
            <a:r>
              <a:rPr sz="900" b="0" i="0" u="none">
                <a:solidFill>
                  <a:srgbClr val="64748B"/>
                </a:solidFill>
                <a:latin typeface="Plus Jakarta Sans"/>
              </a:rPr>
              <a:t>Slide 7 of 8</a:t>
            </a:r>
          </a:p>
        </p:txBody>
      </p:sp>
      <p:sp>
        <p:nvSpPr>
          <p:cNvPr id="13" name="TextBox 12"/>
          <p:cNvSpPr txBox="1"/>
          <p:nvPr/>
        </p:nvSpPr>
        <p:spPr>
          <a:xfrm>
            <a:off x="676275" y="2195066"/>
            <a:ext cx="10877550" cy="133350"/>
          </a:xfrm>
          <a:prstGeom prst="rect">
            <a:avLst/>
          </a:prstGeom>
          <a:noFill/>
        </p:spPr>
        <p:txBody>
          <a:bodyPr wrap="square" lIns="0" tIns="0" rIns="0" bIns="0" anchor="t">
            <a:spAutoFit/>
          </a:bodyPr>
          <a:lstStyle/>
          <a:p>
            <a:pPr algn="l"/>
            <a:r>
              <a:rPr sz="825" b="0" i="0" u="none">
                <a:solidFill>
                  <a:srgbClr val="38BDF8"/>
                </a:solidFill>
                <a:latin typeface="JetBrains Mono SemiBold"/>
              </a:rPr>
              <a:t>REFLECTION QUESTION 2</a:t>
            </a:r>
          </a:p>
        </p:txBody>
      </p:sp>
      <p:sp>
        <p:nvSpPr>
          <p:cNvPr id="14" name="TextBox 13"/>
          <p:cNvSpPr txBox="1"/>
          <p:nvPr/>
        </p:nvSpPr>
        <p:spPr>
          <a:xfrm>
            <a:off x="676275" y="2366516"/>
            <a:ext cx="10877550" cy="237827"/>
          </a:xfrm>
          <a:prstGeom prst="rect">
            <a:avLst/>
          </a:prstGeom>
          <a:noFill/>
        </p:spPr>
        <p:txBody>
          <a:bodyPr wrap="square" lIns="0" tIns="0" rIns="0" bIns="0" anchor="t">
            <a:spAutoFit/>
          </a:bodyPr>
          <a:lstStyle/>
          <a:p>
            <a:pPr algn="l">
              <a:lnSpc>
                <a:spcPts val="1873"/>
              </a:lnSpc>
            </a:pPr>
            <a:r>
              <a:rPr sz="1387" b="1" i="0" u="none">
                <a:solidFill>
                  <a:srgbClr val="FFFFFF"/>
                </a:solidFill>
                <a:latin typeface="Plus Jakarta Sans"/>
              </a:rPr>
              <a:t>What is one simple HCI change you would make to improve the user interface?</a:t>
            </a:r>
          </a:p>
        </p:txBody>
      </p:sp>
      <p:sp>
        <p:nvSpPr>
          <p:cNvPr id="15" name="TextBox 14"/>
          <p:cNvSpPr txBox="1"/>
          <p:nvPr/>
        </p:nvSpPr>
        <p:spPr>
          <a:xfrm>
            <a:off x="676275" y="3508790"/>
            <a:ext cx="10896600" cy="465833"/>
          </a:xfrm>
          <a:prstGeom prst="rect">
            <a:avLst/>
          </a:prstGeom>
          <a:noFill/>
        </p:spPr>
        <p:txBody>
          <a:bodyPr wrap="square" lIns="0" tIns="0" rIns="0" bIns="0" anchor="t">
            <a:spAutoFit/>
          </a:bodyPr>
          <a:lstStyle/>
          <a:p>
            <a:pPr>
              <a:lnSpc>
                <a:spcPts val="1918"/>
              </a:lnSpc>
            </a:pPr>
            <a:r>
              <a:rPr lang="en-US" sz="1200" dirty="0">
                <a:solidFill>
                  <a:schemeClr val="bg1"/>
                </a:solidFill>
              </a:rPr>
              <a:t>Add a quick-access on-screen slider or hotkey to adjust layer transparency and hide distracting labels or pins, giving users a clearer and more focused view of the 3D environment.</a:t>
            </a:r>
            <a:endParaRPr sz="1162" b="0" i="0" u="none" dirty="0">
              <a:solidFill>
                <a:schemeClr val="bg1"/>
              </a:solidFill>
              <a:latin typeface="Plus Jakarta Sans"/>
            </a:endParaRPr>
          </a:p>
        </p:txBody>
      </p:sp>
      <p:pic>
        <p:nvPicPr>
          <p:cNvPr id="16" name="Picture 15" descr="image.png"/>
          <p:cNvPicPr>
            <a:picLocks noChangeAspect="1"/>
          </p:cNvPicPr>
          <p:nvPr/>
        </p:nvPicPr>
        <p:blipFill>
          <a:blip r:embed="rId8"/>
          <a:stretch>
            <a:fillRect/>
          </a:stretch>
        </p:blipFill>
        <p:spPr>
          <a:xfrm>
            <a:off x="647700" y="3152030"/>
            <a:ext cx="152400" cy="152400"/>
          </a:xfrm>
          <a:prstGeom prst="rect">
            <a:avLst/>
          </a:prstGeom>
        </p:spPr>
      </p:pic>
      <p:sp>
        <p:nvSpPr>
          <p:cNvPr id="17" name="TextBox 16"/>
          <p:cNvSpPr txBox="1"/>
          <p:nvPr/>
        </p:nvSpPr>
        <p:spPr>
          <a:xfrm>
            <a:off x="895350" y="3128218"/>
            <a:ext cx="4048125" cy="200025"/>
          </a:xfrm>
          <a:prstGeom prst="rect">
            <a:avLst/>
          </a:prstGeom>
          <a:noFill/>
        </p:spPr>
        <p:txBody>
          <a:bodyPr wrap="square" lIns="0" tIns="0" rIns="0" bIns="0" anchor="t">
            <a:spAutoFit/>
          </a:bodyPr>
          <a:lstStyle/>
          <a:p>
            <a:pPr algn="l"/>
            <a:r>
              <a:rPr sz="1200" b="1" i="0" u="none">
                <a:solidFill>
                  <a:srgbClr val="FFFFFF"/>
                </a:solidFill>
                <a:latin typeface="Plus Jakarta Sans"/>
              </a:rPr>
              <a:t>Proposed Solution: Layer Transparency Slider &amp; Hotkey</a:t>
            </a:r>
          </a:p>
        </p:txBody>
      </p:sp>
      <p:sp>
        <p:nvSpPr>
          <p:cNvPr id="18" name="TextBox 17"/>
          <p:cNvSpPr txBox="1"/>
          <p:nvPr/>
        </p:nvSpPr>
        <p:spPr>
          <a:xfrm>
            <a:off x="790575" y="4320033"/>
            <a:ext cx="1466850" cy="133350"/>
          </a:xfrm>
          <a:prstGeom prst="rect">
            <a:avLst/>
          </a:prstGeom>
          <a:noFill/>
        </p:spPr>
        <p:txBody>
          <a:bodyPr wrap="square" lIns="0" tIns="0" rIns="0" bIns="0" anchor="t">
            <a:spAutoFit/>
          </a:bodyPr>
          <a:lstStyle/>
          <a:p>
            <a:pPr algn="l"/>
            <a:r>
              <a:rPr sz="825" b="0" i="0" u="none">
                <a:solidFill>
                  <a:srgbClr val="38BDF8"/>
                </a:solidFill>
                <a:latin typeface="JetBrains Mono SemiBold"/>
              </a:rPr>
              <a:t>HCI PRINCIPLE INVOLVED</a:t>
            </a:r>
          </a:p>
        </p:txBody>
      </p:sp>
      <p:sp>
        <p:nvSpPr>
          <p:cNvPr id="19" name="TextBox 18"/>
          <p:cNvSpPr txBox="1"/>
          <p:nvPr/>
        </p:nvSpPr>
        <p:spPr>
          <a:xfrm>
            <a:off x="790575" y="4501008"/>
            <a:ext cx="5095875" cy="323850"/>
          </a:xfrm>
          <a:prstGeom prst="rect">
            <a:avLst/>
          </a:prstGeom>
          <a:noFill/>
        </p:spPr>
        <p:txBody>
          <a:bodyPr wrap="square" lIns="0" tIns="0" rIns="0" bIns="0" anchor="t">
            <a:spAutoFit/>
          </a:bodyPr>
          <a:lstStyle/>
          <a:p>
            <a:pPr algn="l"/>
            <a:r>
              <a:rPr sz="1012" b="1" i="0" u="none">
                <a:solidFill>
                  <a:srgbClr val="E2E8F0"/>
                </a:solidFill>
                <a:latin typeface="Plus Jakarta Sans"/>
              </a:rPr>
              <a:t>User Control &amp; Freedom:</a:t>
            </a:r>
            <a:r>
              <a:rPr sz="1012" b="0" i="0" u="none">
                <a:solidFill>
                  <a:srgbClr val="E2E8F0"/>
                </a:solidFill>
                <a:latin typeface="Plus Jakarta Sans"/>
              </a:rPr>
              <a:t> Provides reversible visibility modes without digging through nested setting menus.</a:t>
            </a:r>
          </a:p>
        </p:txBody>
      </p:sp>
      <p:sp>
        <p:nvSpPr>
          <p:cNvPr id="20" name="TextBox 19"/>
          <p:cNvSpPr txBox="1"/>
          <p:nvPr/>
        </p:nvSpPr>
        <p:spPr>
          <a:xfrm>
            <a:off x="6305550" y="4320033"/>
            <a:ext cx="1333500" cy="133350"/>
          </a:xfrm>
          <a:prstGeom prst="rect">
            <a:avLst/>
          </a:prstGeom>
          <a:noFill/>
        </p:spPr>
        <p:txBody>
          <a:bodyPr wrap="square" lIns="0" tIns="0" rIns="0" bIns="0" anchor="t">
            <a:spAutoFit/>
          </a:bodyPr>
          <a:lstStyle/>
          <a:p>
            <a:pPr algn="l"/>
            <a:r>
              <a:rPr sz="825" b="0" i="0" u="none">
                <a:solidFill>
                  <a:srgbClr val="38BDF8"/>
                </a:solidFill>
                <a:latin typeface="JetBrains Mono SemiBold"/>
              </a:rPr>
              <a:t>COGNITIVE ERGONOMICS</a:t>
            </a:r>
          </a:p>
        </p:txBody>
      </p:sp>
      <p:sp>
        <p:nvSpPr>
          <p:cNvPr id="21" name="TextBox 20"/>
          <p:cNvSpPr txBox="1"/>
          <p:nvPr/>
        </p:nvSpPr>
        <p:spPr>
          <a:xfrm>
            <a:off x="6305550" y="4501008"/>
            <a:ext cx="5095875" cy="323850"/>
          </a:xfrm>
          <a:prstGeom prst="rect">
            <a:avLst/>
          </a:prstGeom>
          <a:noFill/>
        </p:spPr>
        <p:txBody>
          <a:bodyPr wrap="square" lIns="0" tIns="0" rIns="0" bIns="0" anchor="t">
            <a:spAutoFit/>
          </a:bodyPr>
          <a:lstStyle/>
          <a:p>
            <a:pPr algn="l"/>
            <a:r>
              <a:rPr sz="1012" b="1" i="0" u="none">
                <a:solidFill>
                  <a:srgbClr val="E2E8F0"/>
                </a:solidFill>
                <a:latin typeface="Plus Jakarta Sans"/>
              </a:rPr>
              <a:t>Selective Visual Attention:</a:t>
            </a:r>
            <a:r>
              <a:rPr sz="1012" b="0" i="0" u="none">
                <a:solidFill>
                  <a:srgbClr val="E2E8F0"/>
                </a:solidFill>
                <a:latin typeface="Plus Jakarta Sans"/>
              </a:rPr>
              <a:t> Eliminates perceptual interference when users explore photogrammetric architectural geometry.</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1424"/>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8467"/>
            <a:ext cx="12192000" cy="6858000"/>
          </a:xfrm>
          <a:prstGeom prst="rect">
            <a:avLst/>
          </a:prstGeom>
        </p:spPr>
      </p:pic>
      <p:pic>
        <p:nvPicPr>
          <p:cNvPr id="4" name="Picture 3" descr="image.png"/>
          <p:cNvPicPr>
            <a:picLocks noChangeAspect="1"/>
          </p:cNvPicPr>
          <p:nvPr/>
        </p:nvPicPr>
        <p:blipFill>
          <a:blip r:embed="rId4"/>
          <a:stretch>
            <a:fillRect/>
          </a:stretch>
        </p:blipFill>
        <p:spPr>
          <a:xfrm>
            <a:off x="428625" y="4924425"/>
            <a:ext cx="11334750" cy="457200"/>
          </a:xfrm>
          <a:prstGeom prst="rect">
            <a:avLst/>
          </a:prstGeom>
        </p:spPr>
      </p:pic>
      <p:pic>
        <p:nvPicPr>
          <p:cNvPr id="5" name="Picture 4" descr="image.png"/>
          <p:cNvPicPr>
            <a:picLocks noChangeAspect="1"/>
          </p:cNvPicPr>
          <p:nvPr/>
        </p:nvPicPr>
        <p:blipFill>
          <a:blip r:embed="rId5"/>
          <a:stretch>
            <a:fillRect/>
          </a:stretch>
        </p:blipFill>
        <p:spPr>
          <a:xfrm>
            <a:off x="428625" y="6353175"/>
            <a:ext cx="11334750" cy="247650"/>
          </a:xfrm>
          <a:prstGeom prst="rect">
            <a:avLst/>
          </a:prstGeom>
        </p:spPr>
      </p:pic>
      <p:sp>
        <p:nvSpPr>
          <p:cNvPr id="6" name="TextBox 5"/>
          <p:cNvSpPr txBox="1"/>
          <p:nvPr/>
        </p:nvSpPr>
        <p:spPr>
          <a:xfrm>
            <a:off x="428625" y="330618"/>
            <a:ext cx="5876776" cy="288541"/>
          </a:xfrm>
          <a:prstGeom prst="rect">
            <a:avLst/>
          </a:prstGeom>
          <a:noFill/>
        </p:spPr>
        <p:txBody>
          <a:bodyPr wrap="square" lIns="0" tIns="0" rIns="0" bIns="0" anchor="ctr">
            <a:spAutoFit/>
          </a:bodyPr>
          <a:lstStyle/>
          <a:p>
            <a:pPr algn="l"/>
            <a:r>
              <a:rPr sz="1875" b="1" i="0" u="none" dirty="0">
                <a:solidFill>
                  <a:srgbClr val="FFFFFF"/>
                </a:solidFill>
                <a:latin typeface="Plus Jakarta Sans"/>
              </a:rPr>
              <a:t>Assignment </a:t>
            </a:r>
            <a:r>
              <a:rPr sz="1875" b="1" i="0" u="none" dirty="0" smtClean="0">
                <a:solidFill>
                  <a:srgbClr val="FFFFFF"/>
                </a:solidFill>
                <a:latin typeface="Plus Jakarta Sans"/>
              </a:rPr>
              <a:t>Summary</a:t>
            </a:r>
            <a:endParaRPr sz="1875" b="1" i="0" u="none" dirty="0">
              <a:solidFill>
                <a:srgbClr val="FFFFFF"/>
              </a:solidFill>
              <a:latin typeface="Plus Jakarta Sans"/>
            </a:endParaRPr>
          </a:p>
        </p:txBody>
      </p:sp>
      <p:graphicFrame>
        <p:nvGraphicFramePr>
          <p:cNvPr id="7" name="Table 6"/>
          <p:cNvGraphicFramePr>
            <a:graphicFrameLocks noGrp="1"/>
          </p:cNvGraphicFramePr>
          <p:nvPr>
            <p:extLst>
              <p:ext uri="{D42A27DB-BD31-4B8C-83A1-F6EECF244321}">
                <p14:modId xmlns:p14="http://schemas.microsoft.com/office/powerpoint/2010/main" val="661276277"/>
              </p:ext>
            </p:extLst>
          </p:nvPr>
        </p:nvGraphicFramePr>
        <p:xfrm>
          <a:off x="428624" y="1847850"/>
          <a:ext cx="11334749" cy="2905125"/>
        </p:xfrm>
        <a:graphic>
          <a:graphicData uri="http://schemas.openxmlformats.org/drawingml/2006/table">
            <a:tbl>
              <a:tblPr firstRow="1" bandRow="1">
                <a:tableStyleId>{5C22544A-7EE6-4342-B048-85BDC9FD1C3A}</a:tableStyleId>
              </a:tblPr>
              <a:tblGrid>
                <a:gridCol w="1404308"/>
                <a:gridCol w="4906302"/>
                <a:gridCol w="5024139"/>
              </a:tblGrid>
              <a:tr h="581025">
                <a:tc>
                  <a:txBody>
                    <a:bodyPr/>
                    <a:lstStyle/>
                    <a:p>
                      <a:pPr algn="l"/>
                      <a:r>
                        <a:rPr lang="en-US" sz="975" b="0" i="0" u="none" dirty="0" smtClean="0">
                          <a:solidFill>
                            <a:srgbClr val="38BDF8"/>
                          </a:solidFill>
                          <a:latin typeface="JetBrains Mono SemiBold"/>
                        </a:rPr>
                        <a:t>   </a:t>
                      </a:r>
                      <a:r>
                        <a:rPr sz="975" b="1" i="0" u="none" dirty="0" smtClean="0">
                          <a:solidFill>
                            <a:srgbClr val="38BDF8"/>
                          </a:solidFill>
                          <a:latin typeface="JetBrains Mono SemiBold"/>
                        </a:rPr>
                        <a:t>Component</a:t>
                      </a:r>
                      <a:endParaRPr sz="975" b="1" i="0" u="none" dirty="0">
                        <a:solidFill>
                          <a:srgbClr val="38BDF8"/>
                        </a:solidFill>
                        <a:latin typeface="JetBrains Mono SemiBold"/>
                      </a:endParaRPr>
                    </a:p>
                  </a:txBody>
                  <a:tcPr marL="63500" marR="63500" marT="25400" marB="2540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FFFFF"/>
                    </a:solidFill>
                  </a:tcPr>
                </a:tc>
                <a:tc>
                  <a:txBody>
                    <a:bodyPr/>
                    <a:lstStyle/>
                    <a:p>
                      <a:pPr algn="l"/>
                      <a:r>
                        <a:rPr lang="en-US" sz="975" b="1" i="0" u="none" dirty="0" smtClean="0">
                          <a:solidFill>
                            <a:srgbClr val="38BDF8"/>
                          </a:solidFill>
                          <a:latin typeface="JetBrains Mono SemiBold"/>
                        </a:rPr>
                        <a:t>                                          </a:t>
                      </a:r>
                      <a:r>
                        <a:rPr sz="975" b="1" i="0" u="none" dirty="0" smtClean="0">
                          <a:solidFill>
                            <a:srgbClr val="38BDF8"/>
                          </a:solidFill>
                          <a:latin typeface="JetBrains Mono SemiBold"/>
                        </a:rPr>
                        <a:t>Requirement</a:t>
                      </a:r>
                      <a:endParaRPr sz="975" b="1" i="0" u="none" dirty="0">
                        <a:solidFill>
                          <a:srgbClr val="38BDF8"/>
                        </a:solidFill>
                        <a:latin typeface="JetBrains Mono SemiBold"/>
                      </a:endParaRPr>
                    </a:p>
                  </a:txBody>
                  <a:tcPr marL="63500" marR="63500" marT="25400" marB="2540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FFFFF"/>
                    </a:solidFill>
                  </a:tcPr>
                </a:tc>
                <a:tc>
                  <a:txBody>
                    <a:bodyPr/>
                    <a:lstStyle/>
                    <a:p>
                      <a:pPr algn="ctr"/>
                      <a:r>
                        <a:rPr sz="975" b="1" i="0" u="none" dirty="0">
                          <a:solidFill>
                            <a:srgbClr val="38BDF8"/>
                          </a:solidFill>
                          <a:latin typeface="JetBrains Mono SemiBold"/>
                        </a:rPr>
                        <a:t>Status &amp; </a:t>
                      </a:r>
                      <a:r>
                        <a:rPr sz="975" b="1" i="0" u="none" dirty="0" smtClean="0">
                          <a:solidFill>
                            <a:srgbClr val="38BDF8"/>
                          </a:solidFill>
                          <a:latin typeface="JetBrains Mono SemiBold"/>
                        </a:rPr>
                        <a:t>Slide</a:t>
                      </a:r>
                      <a:endParaRPr sz="975" b="1" i="0" u="none" dirty="0">
                        <a:solidFill>
                          <a:srgbClr val="38BDF8"/>
                        </a:solidFill>
                        <a:latin typeface="JetBrains Mono SemiBold"/>
                      </a:endParaRPr>
                    </a:p>
                  </a:txBody>
                  <a:tcPr marL="63500" marR="63500" marT="25400" marB="2540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FFFFF"/>
                    </a:solidFill>
                  </a:tcPr>
                </a:tc>
              </a:tr>
              <a:tr h="581025">
                <a:tc>
                  <a:txBody>
                    <a:bodyPr/>
                    <a:lstStyle/>
                    <a:p>
                      <a:pPr algn="l"/>
                      <a:r>
                        <a:rPr sz="1050" b="1" i="0" u="none" dirty="0">
                          <a:solidFill>
                            <a:srgbClr val="CBD5E1"/>
                          </a:solidFill>
                          <a:latin typeface="Plus Jakarta Sans"/>
                        </a:rPr>
                        <a:t>HCI Annotation</a:t>
                      </a:r>
                    </a:p>
                  </a:txBody>
                  <a:tcPr marL="63500" marR="63500" marT="25400" marB="2540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l"/>
                      <a:r>
                        <a:rPr sz="1050" b="0" i="0" u="none" dirty="0">
                          <a:solidFill>
                            <a:srgbClr val="CBD5E1"/>
                          </a:solidFill>
                          <a:latin typeface="Plus Jakarta Sans"/>
                        </a:rPr>
                        <a:t>Correctly identifies 3 interaction/UI elements and their usability purpose</a:t>
                      </a:r>
                    </a:p>
                  </a:txBody>
                  <a:tcPr marL="63500" marR="63500" marT="25400" marB="25400" anchor="ctr">
                    <a:lnL>
                      <a:noFill/>
                    </a:lnL>
                    <a:lnR>
                      <a:noFill/>
                    </a:lnR>
                    <a:lnT>
                      <a:noFill/>
                    </a:lnT>
                    <a:lnB>
                      <a:noFill/>
                    </a:lnB>
                    <a:lnTlToBr w="12700" cmpd="sng">
                      <a:noFill/>
                      <a:prstDash val="solid"/>
                    </a:lnTlToBr>
                    <a:lnBlToTr w="12700" cmpd="sng">
                      <a:noFill/>
                      <a:prstDash val="solid"/>
                    </a:lnBlToTr>
                    <a:noFill/>
                  </a:tcPr>
                </a:tc>
                <a:tc>
                  <a:txBody>
                    <a:bodyPr/>
                    <a:lstStyle/>
                    <a:p>
                      <a:pPr algn="l"/>
                      <a:r>
                        <a:rPr sz="1050" b="0" i="0" u="none" dirty="0">
                          <a:solidFill>
                            <a:srgbClr val="CBD5E1"/>
                          </a:solidFill>
                          <a:latin typeface="Plus Jakarta Sans"/>
                        </a:rPr>
                        <a:t>Fully detailed on </a:t>
                      </a:r>
                      <a:r>
                        <a:rPr sz="1050" b="1" i="0" u="none" dirty="0">
                          <a:solidFill>
                            <a:srgbClr val="CBD5E1"/>
                          </a:solidFill>
                          <a:latin typeface="Plus Jakarta Sans"/>
                        </a:rPr>
                        <a:t>Slide 2 &amp; 3</a:t>
                      </a:r>
                      <a:r>
                        <a:rPr sz="1050" b="0" i="0" u="none" dirty="0">
                          <a:solidFill>
                            <a:srgbClr val="CBD5E1"/>
                          </a:solidFill>
                          <a:latin typeface="Plus Jakarta Sans"/>
                        </a:rPr>
                        <a:t> (Search ribbon, POI pins, HUD cluster)</a:t>
                      </a:r>
                    </a:p>
                  </a:txBody>
                  <a:tcPr marL="63500" marR="63500" marT="25400" marB="2540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r>
              <a:tr h="581025">
                <a:tc>
                  <a:txBody>
                    <a:bodyPr/>
                    <a:lstStyle/>
                    <a:p>
                      <a:pPr algn="l"/>
                      <a:r>
                        <a:rPr sz="1050" b="1" i="0" u="none" dirty="0">
                          <a:solidFill>
                            <a:srgbClr val="CBD5E1"/>
                          </a:solidFill>
                          <a:latin typeface="Plus Jakarta Sans"/>
                        </a:rPr>
                        <a:t>CG Annotation</a:t>
                      </a:r>
                    </a:p>
                  </a:txBody>
                  <a:tcPr marL="63500" marR="63500" marT="25400" marB="2540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l"/>
                      <a:r>
                        <a:rPr sz="1050" b="0" i="0" u="none" dirty="0">
                          <a:solidFill>
                            <a:srgbClr val="CBD5E1"/>
                          </a:solidFill>
                          <a:latin typeface="Plus Jakarta Sans"/>
                        </a:rPr>
                        <a:t>Correctly identifies 3 graphics/rendering elements (light, mesh, texturing)</a:t>
                      </a:r>
                    </a:p>
                  </a:txBody>
                  <a:tcPr marL="63500" marR="63500" marT="25400" marB="25400" anchor="ctr">
                    <a:lnL>
                      <a:noFill/>
                    </a:lnL>
                    <a:lnR>
                      <a:noFill/>
                    </a:lnR>
                    <a:lnT>
                      <a:noFill/>
                    </a:lnT>
                    <a:lnB>
                      <a:noFill/>
                    </a:lnB>
                    <a:lnTlToBr w="12700" cmpd="sng">
                      <a:noFill/>
                      <a:prstDash val="solid"/>
                    </a:lnTlToBr>
                    <a:lnBlToTr w="12700" cmpd="sng">
                      <a:noFill/>
                      <a:prstDash val="solid"/>
                    </a:lnBlToTr>
                    <a:noFill/>
                  </a:tcPr>
                </a:tc>
                <a:tc>
                  <a:txBody>
                    <a:bodyPr/>
                    <a:lstStyle/>
                    <a:p>
                      <a:pPr algn="l"/>
                      <a:r>
                        <a:rPr sz="1050" b="0" i="0" u="none" dirty="0">
                          <a:solidFill>
                            <a:srgbClr val="CBD5E1"/>
                          </a:solidFill>
                          <a:latin typeface="Plus Jakarta Sans"/>
                        </a:rPr>
                        <a:t>Fully detailed on </a:t>
                      </a:r>
                      <a:r>
                        <a:rPr sz="1050" b="1" i="0" u="none" dirty="0">
                          <a:solidFill>
                            <a:srgbClr val="CBD5E1"/>
                          </a:solidFill>
                          <a:latin typeface="Plus Jakarta Sans"/>
                        </a:rPr>
                        <a:t>Slide 4 &amp; 5</a:t>
                      </a:r>
                      <a:r>
                        <a:rPr sz="1050" b="0" i="0" u="none" dirty="0">
                          <a:solidFill>
                            <a:srgbClr val="CBD5E1"/>
                          </a:solidFill>
                          <a:latin typeface="Plus Jakarta Sans"/>
                        </a:rPr>
                        <a:t> (3D meshes, UV wrapping, cast shadows)</a:t>
                      </a:r>
                    </a:p>
                  </a:txBody>
                  <a:tcPr marL="63500" marR="63500" marT="25400" marB="2540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r>
              <a:tr h="581025">
                <a:tc>
                  <a:txBody>
                    <a:bodyPr/>
                    <a:lstStyle/>
                    <a:p>
                      <a:pPr algn="l"/>
                      <a:r>
                        <a:rPr sz="1050" b="1" i="0" u="none" dirty="0">
                          <a:solidFill>
                            <a:srgbClr val="CBD5E1"/>
                          </a:solidFill>
                          <a:latin typeface="Plus Jakarta Sans"/>
                        </a:rPr>
                        <a:t>Reflection</a:t>
                      </a:r>
                    </a:p>
                  </a:txBody>
                  <a:tcPr marL="63500" marR="63500" marT="25400" marB="2540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l"/>
                      <a:r>
                        <a:rPr sz="1050" b="0" i="0" u="none" dirty="0">
                          <a:solidFill>
                            <a:srgbClr val="CBD5E1"/>
                          </a:solidFill>
                          <a:latin typeface="Plus Jakarta Sans"/>
                        </a:rPr>
                        <a:t>Clear, concise answers connecting graphics rendering to user experience</a:t>
                      </a:r>
                    </a:p>
                  </a:txBody>
                  <a:tcPr marL="63500" marR="63500" marT="25400" marB="25400" anchor="ctr">
                    <a:lnL>
                      <a:noFill/>
                    </a:lnL>
                    <a:lnR>
                      <a:noFill/>
                    </a:lnR>
                    <a:lnT>
                      <a:noFill/>
                    </a:lnT>
                    <a:lnB>
                      <a:noFill/>
                    </a:lnB>
                    <a:lnTlToBr w="12700" cmpd="sng">
                      <a:noFill/>
                      <a:prstDash val="solid"/>
                    </a:lnTlToBr>
                    <a:lnBlToTr w="12700" cmpd="sng">
                      <a:noFill/>
                      <a:prstDash val="solid"/>
                    </a:lnBlToTr>
                    <a:noFill/>
                  </a:tcPr>
                </a:tc>
                <a:tc>
                  <a:txBody>
                    <a:bodyPr/>
                    <a:lstStyle/>
                    <a:p>
                      <a:pPr algn="l"/>
                      <a:r>
                        <a:rPr sz="1050" b="0" i="0" u="none" dirty="0">
                          <a:solidFill>
                            <a:srgbClr val="CBD5E1"/>
                          </a:solidFill>
                          <a:latin typeface="Plus Jakarta Sans"/>
                        </a:rPr>
                        <a:t>Addressed on </a:t>
                      </a:r>
                      <a:r>
                        <a:rPr sz="1050" b="1" i="0" u="none" dirty="0">
                          <a:solidFill>
                            <a:srgbClr val="CBD5E1"/>
                          </a:solidFill>
                          <a:latin typeface="Plus Jakarta Sans"/>
                        </a:rPr>
                        <a:t>Slide 6 &amp; 7</a:t>
                      </a:r>
                      <a:r>
                        <a:rPr sz="1050" b="0" i="0" u="none" dirty="0">
                          <a:solidFill>
                            <a:srgbClr val="CBD5E1"/>
                          </a:solidFill>
                          <a:latin typeface="Plus Jakarta Sans"/>
                        </a:rPr>
                        <a:t> (Mental models vs. clutter, declutter slider)</a:t>
                      </a:r>
                    </a:p>
                  </a:txBody>
                  <a:tcPr marL="63500" marR="63500" marT="25400" marB="2540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r>
              <a:tr h="581025">
                <a:tc>
                  <a:txBody>
                    <a:bodyPr/>
                    <a:lstStyle/>
                    <a:p>
                      <a:pPr algn="l"/>
                      <a:r>
                        <a:rPr sz="1050" b="1" i="0" u="none" dirty="0">
                          <a:solidFill>
                            <a:srgbClr val="CBD5E1"/>
                          </a:solidFill>
                          <a:latin typeface="Plus Jakarta Sans"/>
                        </a:rPr>
                        <a:t>Clarity &amp; Layout</a:t>
                      </a:r>
                    </a:p>
                  </a:txBody>
                  <a:tcPr marL="63500" marR="63500" marT="25400" marB="2540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sz="1050" b="0" i="0" u="none" dirty="0">
                          <a:solidFill>
                            <a:srgbClr val="CBD5E1"/>
                          </a:solidFill>
                          <a:latin typeface="Plus Jakarta Sans"/>
                        </a:rPr>
                        <a:t>Clean screenshot layout with easily readable callouts and pointers</a:t>
                      </a:r>
                    </a:p>
                  </a:txBody>
                  <a:tcPr marL="63500" marR="63500" marT="25400" marB="2540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sz="1050" b="0" i="0" u="none" dirty="0">
                          <a:solidFill>
                            <a:srgbClr val="CBD5E1"/>
                          </a:solidFill>
                          <a:latin typeface="Plus Jakarta Sans"/>
                        </a:rPr>
                        <a:t>High-contrast presentation with </a:t>
                      </a:r>
                      <a:r>
                        <a:rPr sz="1050" b="0" i="0" u="none" dirty="0" smtClean="0">
                          <a:solidFill>
                            <a:srgbClr val="CBD5E1"/>
                          </a:solidFill>
                          <a:latin typeface="Plus Jakarta Sans"/>
                        </a:rPr>
                        <a:t>labeled </a:t>
                      </a:r>
                      <a:r>
                        <a:rPr sz="1050" b="0" i="0" u="none" dirty="0">
                          <a:solidFill>
                            <a:srgbClr val="CBD5E1"/>
                          </a:solidFill>
                          <a:latin typeface="Plus Jakarta Sans"/>
                        </a:rPr>
                        <a:t>images</a:t>
                      </a:r>
                    </a:p>
                  </a:txBody>
                  <a:tcPr marL="63500" marR="63500" marT="25400" marB="2540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8" name="TextBox 7"/>
          <p:cNvSpPr txBox="1"/>
          <p:nvPr/>
        </p:nvSpPr>
        <p:spPr>
          <a:xfrm>
            <a:off x="428625" y="6457950"/>
            <a:ext cx="4143375" cy="142875"/>
          </a:xfrm>
          <a:prstGeom prst="rect">
            <a:avLst/>
          </a:prstGeom>
          <a:noFill/>
        </p:spPr>
        <p:txBody>
          <a:bodyPr wrap="square" lIns="0" tIns="0" rIns="0" bIns="0" anchor="t">
            <a:spAutoFit/>
          </a:bodyPr>
          <a:lstStyle/>
          <a:p>
            <a:pPr algn="l"/>
            <a:r>
              <a:rPr sz="900" b="0" i="0" u="none" dirty="0">
                <a:solidFill>
                  <a:srgbClr val="64748B"/>
                </a:solidFill>
                <a:latin typeface="Plus Jakarta Sans"/>
              </a:rPr>
              <a:t>Department of Computer </a:t>
            </a:r>
            <a:r>
              <a:rPr lang="en-US" sz="900" dirty="0" smtClean="0">
                <a:solidFill>
                  <a:srgbClr val="64748B"/>
                </a:solidFill>
                <a:latin typeface="Plus Jakarta Sans"/>
              </a:rPr>
              <a:t>science</a:t>
            </a:r>
            <a:endParaRPr sz="900" b="0" i="0" u="none" dirty="0">
              <a:solidFill>
                <a:srgbClr val="64748B"/>
              </a:solidFill>
              <a:latin typeface="Plus Jakarta Sans"/>
            </a:endParaRPr>
          </a:p>
        </p:txBody>
      </p:sp>
      <p:sp>
        <p:nvSpPr>
          <p:cNvPr id="9" name="TextBox 8"/>
          <p:cNvSpPr txBox="1"/>
          <p:nvPr/>
        </p:nvSpPr>
        <p:spPr>
          <a:xfrm>
            <a:off x="11153775" y="6457950"/>
            <a:ext cx="609600" cy="142875"/>
          </a:xfrm>
          <a:prstGeom prst="rect">
            <a:avLst/>
          </a:prstGeom>
          <a:noFill/>
        </p:spPr>
        <p:txBody>
          <a:bodyPr wrap="square" lIns="0" tIns="0" rIns="0" bIns="0" anchor="t">
            <a:spAutoFit/>
          </a:bodyPr>
          <a:lstStyle/>
          <a:p>
            <a:pPr algn="l"/>
            <a:r>
              <a:rPr sz="900" b="0" i="0" u="none">
                <a:solidFill>
                  <a:srgbClr val="64748B"/>
                </a:solidFill>
                <a:latin typeface="Plus Jakarta Sans"/>
              </a:rPr>
              <a:t>Slide 8 of 8</a:t>
            </a:r>
          </a:p>
        </p:txBody>
      </p:sp>
      <p:sp>
        <p:nvSpPr>
          <p:cNvPr id="11" name="Rectangle 10"/>
          <p:cNvSpPr/>
          <p:nvPr/>
        </p:nvSpPr>
        <p:spPr>
          <a:xfrm>
            <a:off x="428625" y="2271712"/>
            <a:ext cx="135761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786235" y="2271712"/>
            <a:ext cx="4743152"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29387" y="2271712"/>
            <a:ext cx="4433589"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962977" y="2271712"/>
            <a:ext cx="800397"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30109" y="5096045"/>
            <a:ext cx="2710011" cy="161583"/>
          </a:xfrm>
          <a:prstGeom prst="rect">
            <a:avLst/>
          </a:prstGeom>
          <a:noFill/>
        </p:spPr>
        <p:txBody>
          <a:bodyPr wrap="square" lIns="0" tIns="0" rIns="0" bIns="0" anchor="t">
            <a:spAutoFit/>
          </a:bodyPr>
          <a:lstStyle/>
          <a:p>
            <a:pPr algn="l"/>
            <a:r>
              <a:rPr sz="1050" b="0" i="0" u="none" dirty="0" smtClean="0">
                <a:solidFill>
                  <a:srgbClr val="E2E8F0"/>
                </a:solidFill>
                <a:latin typeface="Plus Jakarta Sans"/>
              </a:rPr>
              <a:t>MUHAMMAD </a:t>
            </a:r>
            <a:r>
              <a:rPr sz="1050" b="0" i="0" u="none" dirty="0">
                <a:solidFill>
                  <a:srgbClr val="E2E8F0"/>
                </a:solidFill>
                <a:latin typeface="Plus Jakarta Sans"/>
              </a:rPr>
              <a:t>NOMAN (2K24/CSE/105) </a:t>
            </a:r>
          </a:p>
        </p:txBody>
      </p:sp>
      <p:sp>
        <p:nvSpPr>
          <p:cNvPr id="16" name="TextBox 15"/>
          <p:cNvSpPr txBox="1"/>
          <p:nvPr/>
        </p:nvSpPr>
        <p:spPr>
          <a:xfrm>
            <a:off x="10344150" y="5072062"/>
            <a:ext cx="1219200" cy="150041"/>
          </a:xfrm>
          <a:prstGeom prst="rect">
            <a:avLst/>
          </a:prstGeom>
          <a:noFill/>
        </p:spPr>
        <p:txBody>
          <a:bodyPr wrap="square" lIns="0" tIns="0" rIns="0" bIns="0" anchor="t">
            <a:spAutoFit/>
          </a:bodyPr>
          <a:lstStyle/>
          <a:p>
            <a:pPr algn="l"/>
            <a:endParaRPr sz="975" b="0" i="0" u="none" dirty="0">
              <a:solidFill>
                <a:srgbClr val="38BDF8"/>
              </a:solidFill>
              <a:latin typeface="JetBrains Mono SemiBold"/>
            </a:endParaRPr>
          </a:p>
        </p:txBody>
      </p:sp>
      <p:sp>
        <p:nvSpPr>
          <p:cNvPr id="17" name="Rectangle 16"/>
          <p:cNvSpPr/>
          <p:nvPr/>
        </p:nvSpPr>
        <p:spPr>
          <a:xfrm>
            <a:off x="428625" y="2890837"/>
            <a:ext cx="135761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786235" y="2890837"/>
            <a:ext cx="4743152"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529387" y="2890837"/>
            <a:ext cx="4433589"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962977" y="2890837"/>
            <a:ext cx="800397"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8625" y="3509962"/>
            <a:ext cx="135761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786235" y="3509962"/>
            <a:ext cx="4743152"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529387" y="3509962"/>
            <a:ext cx="4433589"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0962977" y="3509962"/>
            <a:ext cx="800397"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28625" y="4129087"/>
            <a:ext cx="135761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786235" y="4129087"/>
            <a:ext cx="4743152"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529387" y="4129087"/>
            <a:ext cx="4433589"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0962977" y="4129087"/>
            <a:ext cx="800397"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880</Words>
  <Application>Microsoft Office PowerPoint</Application>
  <PresentationFormat>Widescreen</PresentationFormat>
  <Paragraphs>80</Paragraphs>
  <Slides>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Calibri</vt:lpstr>
      <vt:lpstr>JetBrains Mono SemiBold</vt:lpstr>
      <vt:lpstr>Plus Jakarta Sans</vt:lpstr>
      <vt:lpstr>Plus Jakarta Sans ExtraBold</vt:lpstr>
      <vt:lpstr>Plus Jakarta Sans Medium</vt:lpstr>
      <vt:lpstr>Plus Jakarta Sans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Dell</dc:creator>
  <cp:keywords/>
  <dc:description>generated using python-pptx</dc:description>
  <cp:lastModifiedBy>Dell</cp:lastModifiedBy>
  <cp:revision>7</cp:revision>
  <dcterms:created xsi:type="dcterms:W3CDTF">2013-01-27T09:14:16Z</dcterms:created>
  <dcterms:modified xsi:type="dcterms:W3CDTF">2026-09-11T05:22:55Z</dcterms:modified>
  <cp:category/>
</cp:coreProperties>
</file>